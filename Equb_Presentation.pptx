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200400" cy="3200400"/>
          </a:xfrm>
          <a:prstGeom prst="ellipse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2011680" cy="2011680"/>
          </a:xfrm>
          <a:prstGeom prst="ellipse">
            <a:avLst/>
          </a:prstGeom>
          <a:noFill/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263140"/>
            <a:ext cx="109728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594860"/>
            <a:ext cx="109728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5A623"/>
                </a:solidFill>
              </a:rPr>
              <a:t>እቁብ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Equb Management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7180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</a:rPr>
              <a:t>Digital infrastructure for Ethiopia's rotating savings groups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737360" cy="347472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113+ Spots / 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5760720"/>
            <a:ext cx="1737360" cy="3474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Weekly Draws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5760720"/>
            <a:ext cx="1737360" cy="347472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SMS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5760720"/>
            <a:ext cx="1737360" cy="347472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58064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Role-Based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Equb?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02920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91440" cy="52120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43E"/>
                </a:solidFill>
              </a:rPr>
              <a:t>The Traditional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Equb (እቁብ) is a centuries-old Ethiopian rotating savings and credit group (ROSCA).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219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A fixed group of members each contribute an agreed amount every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2549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Each cycle, one member wins the entire pot through a draw.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30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Every member eventually receives the full pot — guaranteed.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3250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342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It is built on trust, community, and mutual financial support.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234440"/>
            <a:ext cx="60350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1234440"/>
            <a:ext cx="91440" cy="5212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417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43E"/>
                </a:solidFill>
              </a:rPr>
              <a:t>Why a Digital Platform?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202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143C"/>
                </a:solidFill>
              </a:rPr>
              <a:t>✗ Manual tracking → errors and disputes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219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143C"/>
                </a:solidFill>
              </a:rPr>
              <a:t>✗ No audit trail for payments and draws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52374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143C"/>
                </a:solidFill>
              </a:rPr>
              <a:t>✗ Hard to scale beyond ~20 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82549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143C"/>
                </a:solidFill>
              </a:rPr>
              <a:t>✗ SMS reminders impossible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1272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290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8A3C"/>
                </a:solidFill>
              </a:rPr>
              <a:t>✓ Automated payment status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7307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8A3C"/>
                </a:solidFill>
              </a:rPr>
              <a:t>✓ Transparent weekly draw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3250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8A3C"/>
                </a:solidFill>
              </a:rPr>
              <a:t>✓ 113 member spots per cycle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334256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8A3C"/>
                </a:solidFill>
              </a:rPr>
              <a:t>✓ Africa's Talking SMS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6360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78A3C"/>
                </a:solidFill>
              </a:rPr>
              <a:t>✓ Role-based admin / cashier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73152" cy="22402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71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Member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764792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9280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Track 113+ member spots + 5 association spots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39572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Full &amp; half-share spot splitting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289864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Member status: active / left / stopped paying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23444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234440"/>
            <a:ext cx="73152" cy="2240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5" y="1371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Cycles &amp; Weekly Draws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9975" y="1764792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1" y="189280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Multi-cycle support with per-cycle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1" y="239572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Automated draw scheduling every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1" y="289864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Status auto-transitions: pending → late → missed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0726" y="123444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0726" y="1234440"/>
            <a:ext cx="73152" cy="2240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8" y="1371600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Payment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8" y="1764792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1894" y="189280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Weekly payment entry per 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4" y="239572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Batch payment recording by cashiers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4" y="2898648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Payment history with late/missed flags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39312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639312"/>
            <a:ext cx="73152" cy="22402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7764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Disbursements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4169664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429768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Cheque-based payouts with 3 guarantors required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480060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Voucher deductions tracked per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530352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End-of-cycle distribution cheques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5383" y="3639312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15383" y="3639312"/>
            <a:ext cx="73152" cy="22402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5" y="37764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Pot Sales &amp; Transfers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79975" y="4169664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1" y="429768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Group week sales, member-to-member transfers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16551" y="480060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Association spot sales with profit routing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16551" y="530352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Net pot = gross minus association deduction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0726" y="3639312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10726" y="3639312"/>
            <a:ext cx="73152" cy="2240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18" y="3776472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SMS Notifications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18" y="4169664"/>
            <a:ext cx="3428999" cy="274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4" y="429768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Africa's Talking API integration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4" y="480060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6 templates: reminder, winner, missed, on-hold…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1894" y="5303520"/>
            <a:ext cx="34289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• Auto-reminders 48 hours before each draw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Reports &amp;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Financial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3075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Total collected vs. expected per cycle; pot size breakdown; association fund balance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019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Payment Status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019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Week-by-week member payment grid: paid / late / missed per member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963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Member Status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496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Active, exited, and stopped-paying members with join/exit 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01752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Draw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0906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All past draws: winner, week number, pot amount, guarantors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8503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Disbursement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6850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Cheque records, voucher deductions, guarantor list per payout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0624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7939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Collection Trend Chart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27939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Actual ETB collected vs. expected — color-coded weekly bar chart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0060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80060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737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SMS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87375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Sent notification history per member: type, timestamp,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94960"/>
            <a:ext cx="114300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5394960"/>
            <a:ext cx="73152" cy="5303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468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43E"/>
                </a:solidFill>
              </a:rPr>
              <a:t>Association Expense 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681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Vendor payments and expense categories for the association fund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283464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94767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Jinja2 HTML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1460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14600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26791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4612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4107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Chart.js visualisations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7764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977640"/>
            <a:ext cx="64008" cy="65836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41422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Vanilla JavaScript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234440"/>
            <a:ext cx="2834640" cy="45720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2984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78308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1783080"/>
            <a:ext cx="64008" cy="65836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194767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(Python)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51460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514600"/>
            <a:ext cx="64008" cy="65836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6432" y="26791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Uvicorn ASGI server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24612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3246120"/>
            <a:ext cx="64008" cy="65836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34107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APScheduler (cron jobs)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97764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977640"/>
            <a:ext cx="64008" cy="658368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56432" y="41422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SQLAlchemy 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1234440"/>
            <a:ext cx="283464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2984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78308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783080"/>
            <a:ext cx="6400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194767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PostgreSQL (production)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51460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514600"/>
            <a:ext cx="6400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26791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SQLite (local dev)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24612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3246120"/>
            <a:ext cx="6400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28232" y="34107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Railway-hosted Postgres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97764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3977640"/>
            <a:ext cx="6400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41422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Alembic migrations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1234440"/>
            <a:ext cx="2834640" cy="4572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129844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178308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35440" y="1783080"/>
            <a:ext cx="64008" cy="65836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00032" y="194767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Africa's Talking SMS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35440" y="251460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2514600"/>
            <a:ext cx="64008" cy="65836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00032" y="267919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Railway.app hosting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24612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246120"/>
            <a:ext cx="64008" cy="65836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00032" y="341071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PBKDF2 password hashing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35440" y="3977640"/>
            <a:ext cx="2834640" cy="65836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35440" y="3977640"/>
            <a:ext cx="64008" cy="658368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00032" y="41422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CSP / HTTPS / CSRF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91440" cy="5212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43E"/>
                </a:solidFill>
              </a:rPr>
              <a:t>Role-Based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493776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73152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Superadmin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Full access: settings, users, all data,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493776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73152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301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Cycle management, draws, disbursements,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493776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73152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43E"/>
                </a:solidFill>
              </a:rPr>
              <a:t>Cashier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7316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4A5C"/>
                </a:solidFill>
              </a:rPr>
              <a:t>Payment entry and member viewing 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234440"/>
            <a:ext cx="580644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1234440"/>
            <a:ext cx="91440" cy="521208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417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43E"/>
                </a:solidFill>
              </a:rPr>
              <a:t>Security Measures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PBKDF2 password hashing (no plain-text storage)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49631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Rate limiting: 5 failed logins → 5-minute lockout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02666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CSRF protection on all state-changing requests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55701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Content Security Policy (CSP) headers enforced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08736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HTTPS enforcement in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17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Session middleware with secure cookie flags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480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Granular per-role permission matrix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678424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A5C"/>
                </a:solidFill>
              </a:rPr>
              <a:t>✓  Audit trail for payments, draws, and disbursements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201168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Browser
(Admin / Cashier)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938528"/>
            <a:ext cx="1005840" cy="54864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2743200" cy="10972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00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 Server
(Python / Uvicorn)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834640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9077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98848" y="2834640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9077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2834640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71616" y="29077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draws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44384" y="2834640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4" y="2907792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01568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reports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3401568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disbursements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6" y="3401568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44384" y="3401568"/>
            <a:ext cx="1463040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44384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settings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1938528"/>
            <a:ext cx="731520" cy="54864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1463040"/>
            <a:ext cx="2103120" cy="109728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1627632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PostgreSQL
(Railway)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2926080"/>
            <a:ext cx="2103120" cy="914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0632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43E"/>
                </a:solidFill>
              </a:rPr>
              <a:t>Africa's Talking
SMS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572000"/>
            <a:ext cx="2743200" cy="82296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APScheduler
(Nightly jobs + pre-draw reminders)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60720"/>
            <a:ext cx="11430000" cy="64008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338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A623"/>
                </a:solidFill>
              </a:rPr>
              <a:t>Hosted on Railway.app  |  Auto-deploy from Git  |  Managed Postgres add-on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noFill/>
          <a:ln w="381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noFill/>
          <a:ln w="38100">
            <a:solidFill>
              <a:srgbClr val="2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22631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79224" y="2263140"/>
            <a:ext cx="109728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9224" y="4594860"/>
            <a:ext cx="109728" cy="22631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CCD6E8"/>
                </a:solidFill>
              </a:rPr>
              <a:t>Built for Ethiopia's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A623"/>
                </a:solidFill>
              </a:rPr>
              <a:t>Financial Communities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743200"/>
            <a:ext cx="39319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2377440" cy="548640"/>
          </a:xfrm>
          <a:prstGeom prst="rect">
            <a:avLst/>
          </a:prstGeom>
          <a:solidFill>
            <a:srgbClr val="078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9067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Transparent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237744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09067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Automated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17520"/>
            <a:ext cx="23774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09067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Scalable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3017520"/>
            <a:ext cx="2377440" cy="54864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090672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Secure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0BB"/>
                </a:solidFill>
              </a:rPr>
              <a:t>እቁብ — Equb Management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