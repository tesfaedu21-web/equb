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noFill/>
          <a:ln w="2286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572000"/>
            <a:ext cx="3200400" cy="3200400"/>
          </a:xfrm>
          <a:prstGeom prst="ellipse">
            <a:avLst/>
          </a:prstGeom>
          <a:noFill/>
          <a:ln w="2286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gradFill>
            <a:gsLst>
              <a:gs pos="0">
                <a:srgbClr val="06101E"/>
              </a:gs>
              <a:gs pos="100000">
                <a:srgbClr val="0D2240"/>
              </a:gs>
            </a:gsLst>
            <a:lin ang="10800000" scaled="0"/>
          </a:gradFill>
          <a:xfrm>
            <a:off x="7315200" y="0"/>
            <a:ext cx="48737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457200"/>
            <a:ext cx="4572000" cy="54864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02920" y="548640"/>
            <a:ext cx="1097280" cy="10972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B1D35"/>
                </a:solidFill>
              </a:rPr>
              <a:t>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እቁብ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A623"/>
                </a:solidFill>
              </a:rPr>
              <a:t>Equb Management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566160"/>
            <a:ext cx="41148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 &amp; Administrator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Covers all roles: Superadmin · Admin · Cashier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212080"/>
            <a:ext cx="2103120" cy="11887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5212080"/>
            <a:ext cx="2103120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285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AB0"/>
                </a:solidFill>
              </a:rPr>
              <a:t>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541264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0632" y="5212080"/>
            <a:ext cx="2103120" cy="11887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0632" y="5212080"/>
            <a:ext cx="21031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5285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AB0"/>
                </a:solidFill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5541264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FastAPI + 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0912" y="5212080"/>
            <a:ext cx="2103120" cy="11887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10912" y="5212080"/>
            <a:ext cx="210312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5285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AB0"/>
                </a:solidFill>
              </a:rPr>
              <a:t>Hosted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5541264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This manual covers all 8 functional areas of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225296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225296"/>
            <a:ext cx="28163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" y="1389888"/>
            <a:ext cx="502920" cy="502920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426464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Getting Started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75104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066544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Login · Dashboard · 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984" y="1225296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225296"/>
            <a:ext cx="28163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3864" y="1389888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1426464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Managing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4" y="1975104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066544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Add · Edit · Spots · Lifecycle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25296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225296"/>
            <a:ext cx="28163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1389888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426464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Cycles &amp; Draws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975104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66544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Create cycle · Run draws · Sell pot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1225296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6296" y="1225296"/>
            <a:ext cx="28163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09176" y="1389888"/>
            <a:ext cx="502920" cy="50292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1426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1426464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Payments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9176" y="1975104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66544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Record · Batch · Auto-status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3474719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" y="3474719"/>
            <a:ext cx="28163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8" y="3639311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36758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675887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Disbursements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" y="4224527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4315967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Cheques · Guarantors · Vouchers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0984" y="3474719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00984" y="3474719"/>
            <a:ext cx="2816352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83864" y="3639311"/>
            <a:ext cx="502920" cy="50292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4" y="36758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5656" y="3675887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Reports &amp; Analytics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3864" y="4224527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3864" y="4315967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Financial · Ledger · Export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474719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474719"/>
            <a:ext cx="28163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46520" y="3639311"/>
            <a:ext cx="502920" cy="502920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6758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3675887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SMS Notifications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4224527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315967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Templates · Auto-send ·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26296" y="3474719"/>
            <a:ext cx="2816352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26296" y="3474719"/>
            <a:ext cx="28163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09176" y="3639311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9176" y="36758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30968" y="3675887"/>
            <a:ext cx="1901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Settings &amp; Admin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09176" y="4224527"/>
            <a:ext cx="2450592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9176" y="4315967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Roles · Permissions · Security · 2FA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78A3C"/>
                </a:solidFill>
              </a:rPr>
              <a:t>Section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Login · Dashboard ·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1.1 — Logging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Authentication · Rate Limiting · Two-Factor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07008"/>
            <a:ext cx="2779776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207008"/>
            <a:ext cx="2779776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" y="13350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353312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Open the app URL in your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755648"/>
            <a:ext cx="24597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Navigate to the Equb platform link.
Default local: http://localhost:8000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207008"/>
            <a:ext cx="2779776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36976" y="1207008"/>
            <a:ext cx="2779776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01568" y="13350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2776" y="1353312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Enter your username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1755648"/>
            <a:ext cx="24597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Case-sensitive. Set by the Superadmin
when your account was created.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64408"/>
            <a:ext cx="2779776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64408"/>
            <a:ext cx="2779776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4632" y="33924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429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410712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Enter your password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813048"/>
            <a:ext cx="24597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Minimum 8 characters. Cannot be all
numbers or a common phrase.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6976" y="3264408"/>
            <a:ext cx="2779776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36976" y="3264408"/>
            <a:ext cx="2779776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01568" y="33924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1568" y="3429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2776" y="3410712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Click Sign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9856" y="3813048"/>
            <a:ext cx="24597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You will be redirected to the Dashboard.
If 2FA is enabled, you will first see
the code entry screen.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1234440"/>
            <a:ext cx="5897880" cy="868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1234440"/>
            <a:ext cx="64008" cy="8686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325880"/>
            <a:ext cx="5696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Rate Limit: After 5 failed login attempts within 5 minutes,
your account is locked for 10 minutes.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212848"/>
            <a:ext cx="5897880" cy="960120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2212848"/>
            <a:ext cx="64008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5624" y="2304288"/>
            <a:ext cx="5696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2FA (Optional): If enabled, after password verification you will
be asked for a 6-digit TOTP code from your authenticator app
(Google Authenticator, Authy, etc.).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282696"/>
            <a:ext cx="58978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282696"/>
            <a:ext cx="64008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3374136"/>
            <a:ext cx="5696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Forgot your password? Contact your Superadmin to reset it.
Superadmins can reset any user's password from Settings → Users.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4160520"/>
            <a:ext cx="5897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4160520"/>
            <a:ext cx="64008" cy="182880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4251960"/>
            <a:ext cx="5696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Password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46360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Minimum 8 characters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49377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be all numbers (e.g. 12345678)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523951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be common phrases ("password", "equb1234")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0488" y="554126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Set by Superadmin; user can change in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1.2 — 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Real-time snapshot of the active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pic>
        <p:nvPicPr>
          <p:cNvPr id="13" name="Picture 12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70432"/>
            <a:ext cx="6995160" cy="544068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74320" y="1307592"/>
            <a:ext cx="310896" cy="31089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" y="1453896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1261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Sidebar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1627632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Links to all modules:
Dashboard · Members · Draws
Payments · Reports · Notifications · 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59152"/>
            <a:ext cx="4434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2450592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" y="2596896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2404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Active Cycle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2770632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Shows which cycle is selected
and the current draw phase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02152"/>
            <a:ext cx="4434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4320" y="3593591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3739895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547871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Next Draw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913631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Week number, draw date,
and net pot amount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45151"/>
            <a:ext cx="4434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320" y="4736592"/>
            <a:ext cx="310896" cy="310896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" y="4882896"/>
            <a:ext cx="320040" cy="27432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4690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Association Fund 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056632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Running total of ማህበር fund
from weekly deductions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788152"/>
            <a:ext cx="4434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73E8"/>
                </a:solidFill>
              </a:rPr>
              <a:t>Section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Managing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Add · Edit · Spots ·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2.1 — Member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Spots · Full Share vs Half Share · Weekly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07008"/>
            <a:ext cx="64008" cy="20116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298448"/>
            <a:ext cx="5285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8A3C"/>
                </a:solidFill>
              </a:rPr>
              <a:t>What is a Spot?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682496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Each spot is a numbered slot in the Equb (e.g. Spot #1 to #113)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98424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One spot = one draw entry per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28600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Member spots: #1 – 113   |   Association spots: #114 – 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58775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Association (ማህበር) spots generate profit for the group 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88950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 member can hold more than one spot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8328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83280"/>
            <a:ext cx="2743200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8A3C"/>
                </a:solidFill>
              </a:rPr>
              <a:t>Full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One member occupies the spot exclusively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Weekly contribution: 21,000 ETB (default)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Receives the full pot when drawn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926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be split with another member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38328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38328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493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Half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Two members share ONE spot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297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Each pays 10,500 ETB/week (half)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645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When drawn, pot is split between two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9926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Max 2 members per half-share spot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207008"/>
            <a:ext cx="58521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207008"/>
            <a:ext cx="64008" cy="4572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258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E"/>
                </a:solidFill>
              </a:rPr>
              <a:t>Weekly Contribution — Example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28800"/>
            <a:ext cx="5852160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8928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Setting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18928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Default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2212848"/>
            <a:ext cx="5852160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276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Full spot amount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22768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21,000 ETB / week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596896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6609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Half spot 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6609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10,500 ETB / week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980944"/>
            <a:ext cx="5852160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044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Association deduction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0449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1,000 ETB / person / week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364992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Full voucher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4290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80 ETB / card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749040"/>
            <a:ext cx="5852160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813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Half voucher 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3813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40 ETB / card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133088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41970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Member spots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1970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517136"/>
            <a:ext cx="5852160" cy="38404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581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Association spots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4581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4901184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49651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Group week interval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49651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Every 4th week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5440680"/>
            <a:ext cx="5852160" cy="685800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35040" y="5440680"/>
            <a:ext cx="6400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1344" y="5532120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Settings can be changed in Settings → Financial Settings (Superadmin only).
Each cycle takes an independent snapshot of these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2.2 — Adding &amp; Editing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Members page → Add Member 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07008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350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Go to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Members in the sidebar.
Click the + Add Member button (top right).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207008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61688" y="13350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Fill in member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Name (required)
Phone number (optional, for SMS)
Notes (optional)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207008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8744" y="1335024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Assign a 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Select spot number from the available list.
Choose share type: Full or Half.
Click Assign Spot.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154680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3282696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Save Member.
Member appears in the list immediately.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7096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154680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61688" y="3282696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Add more spots (optional)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Open the member record.
Click Add Spot to assign
an additional spot.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3154680"/>
            <a:ext cx="3730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8744" y="3282696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Bulk import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2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Import to upload a CSV/Excel
file with columns: Name, Phone,
Spot, Share, Notes.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84648"/>
            <a:ext cx="115488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84648"/>
            <a:ext cx="64008" cy="80467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" y="5276088"/>
            <a:ext cx="11347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Important: You cannot add or edit spot assignments once the cycle moves to the Draw phase. Complete all member registrations during the Collection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2.3 — Member Lifecycle &amp;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Active → Received → Left  |  Mid-cycle exit · Spot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457200" y="1325880"/>
            <a:ext cx="3200400" cy="14630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is currently
participating and
paying weekly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1965960"/>
            <a:ext cx="310896" cy="36576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4114800" y="1325880"/>
            <a:ext cx="3200400" cy="14630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47672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has won
the pot and
collected cheque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965960"/>
            <a:ext cx="310896" cy="36576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7772400" y="1325880"/>
            <a:ext cx="3200400" cy="14630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47672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has departed
or stopped paying
during the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71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71800"/>
            <a:ext cx="64008" cy="21945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063240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</a:rPr>
              <a:t>Mid-Cycle Exit (Member Leaves)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4472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Members → open member → click Exit 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37490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Enter the exit week number and reason (left / stopped paying)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40507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All pending/late payments AFTER the exit week are auto-marked missed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3525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 financial summary is shown: weeks paid, owed, whether they won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971800"/>
            <a:ext cx="5833872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971800"/>
            <a:ext cx="64008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3063240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Spot Transfer (Mid-Cycle)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47288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Members → click Spot 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749040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Select the spot, the current member (seller), and new member (buyer)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050792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Specify the effective week (first week new member is responsible)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352544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Past payments stay with original member; future assigned to new member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21808"/>
            <a:ext cx="11548872" cy="685800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321808"/>
            <a:ext cx="6400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5413248"/>
            <a:ext cx="11347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Soft deletes: Members marked Left are never permanently deleted. All payment, draw, and guarantor records are preserved for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A623"/>
                </a:solidFill>
              </a:rPr>
              <a:t>Section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Cycles &amp; Draws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Create cycle · Run draws · Sell pot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3.1 — Creating &amp; Managing 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Draws page → Cycles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07008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35024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Go to Draws →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Draws in sidebar.
Select the Cycles tab.
Click "+ New Cycle".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207008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61688" y="1335024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Fill in cycle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Name (e.g. Equb 2025), Start date,
Notes (optional).
Override financial settings if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207008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8744" y="1335024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Create the 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Create. All weeks are
generated automatically.
Status: Collection phase.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154680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3282696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Register all 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Add members and assign spots
during the Collection phase.
No draws happen yet.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7096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154680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61688" y="3282696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Start Draws phase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"Start Draws" on the cycle.
Specify first week number and
total association spots.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3154680"/>
            <a:ext cx="3730752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8744" y="3282696"/>
            <a:ext cx="402336" cy="40233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Recalculate pot (if needed)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2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If members are added or changed,
click Recalculate Pot to update
all pending week amounts.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84648"/>
            <a:ext cx="11548872" cy="80467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84648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" y="5276088"/>
            <a:ext cx="11347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Only one cycle can be active at a time. Creating a new cycle automatically closes the previous active cycle. Completed cycles are locked and preserved.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3.2 — Running Weekly Draws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Draws page → Weeks tab → Draw Winner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34440"/>
            <a:ext cx="53035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62456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990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3807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Select the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Go to Draws → Weeks. Find
the current week 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96312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96312"/>
            <a:ext cx="53035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" y="2624328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6609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426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Click Draw Winner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4495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the "Draw" button.
Select or confirm the winning spot.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58184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58184"/>
            <a:ext cx="53035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4632" y="388620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92277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044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System checks eligibility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0682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Winner must have no pending/
late/missed payments.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20056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020056"/>
            <a:ext cx="53035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5148072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18464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166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Winner confirmed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6869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Spot status → Received.
Week status → Drawn.
SMS sent to winner.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234440"/>
            <a:ext cx="587959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1234440"/>
            <a:ext cx="64008" cy="32004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353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</a:rPr>
              <a:t>Pot On 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If the winning member has unpaid weeks: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17627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The pot is placed ON 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5237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An SMS is sent: pay outstanding weeks to receive pot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28712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Member must clear all outstanding 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21868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Admin then releases the pot manually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3566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Cheque is issued the following week after confirmation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572000"/>
            <a:ext cx="587959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4572000"/>
            <a:ext cx="64008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35624" y="4663440"/>
            <a:ext cx="5678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Group Week (Buyer Week) — Every 4th Week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0488" y="5047488"/>
            <a:ext cx="5559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Any member can buy the pot on a group week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5349240"/>
            <a:ext cx="5559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Goes to Draws → sell this week's pot → Group sale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5650992"/>
            <a:ext cx="5559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Buyer pays the net pot amount; seller receives their fee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5952744"/>
            <a:ext cx="5559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Association spot weeks: profit goes to ማህበር fund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355080"/>
            <a:ext cx="530352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6355080"/>
            <a:ext cx="64008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" y="6446520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Batch Draw: You can draw multiple weeks at once from Draws → Batch Draw. Each week is validated independently.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C143C"/>
                </a:solidFill>
              </a:rPr>
              <a:t>Section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Record · Batch · Auto-status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4.1 — Recording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Payments page → Select week → Record payment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07008"/>
            <a:ext cx="53949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207008"/>
            <a:ext cx="64008" cy="2926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1298448"/>
            <a:ext cx="5193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Record a Single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168249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Payments in sidebar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84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Select the week from the dropdown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286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Find the member in the payment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258775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Click Record Payment next to their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88950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Fill in: Status, Payment date, Method (cash/bank/cheque), Reference,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19125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Click Save — SMS confirmation is sent automatically if SMS is enabled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207008"/>
            <a:ext cx="5833872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207008"/>
            <a:ext cx="64008" cy="29260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298448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8A3C"/>
                </a:solidFill>
              </a:rPr>
              <a:t>Record a Batch Payment (Multiple Weeks)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682496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Payments → Batch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984248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Select the member from the dropdown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86000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Tick the week checkboxes you are recording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587752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Enter payment date, method, and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889504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Click Save — all selected weeks are marked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191256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One SMS is sent summarising all weeks covered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79392"/>
            <a:ext cx="11548872" cy="347472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15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 Fields 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645152"/>
            <a:ext cx="11548872" cy="3566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09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70916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pending / paid / late / missed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001768"/>
            <a:ext cx="11548872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657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Payment 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065776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Date cash/cheque was received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358384"/>
            <a:ext cx="11548872" cy="3566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223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Payment method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42239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cash · bank_transfer · cheque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715000"/>
            <a:ext cx="11548872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79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779008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Cheque number or bank transaction reference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071616"/>
            <a:ext cx="11548872" cy="35661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356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Penalty amount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613562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ETB surcharge for late payment (optional)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428232"/>
            <a:ext cx="11548872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649224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Any additional remarks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4.2 — Payment Status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Automatic transitions · Scheduled jobs · Manual override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347472" y="1261872"/>
            <a:ext cx="2651760" cy="15087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081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85623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Payment created
but not yet
recorded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26664" y="1947672"/>
            <a:ext cx="146304" cy="36576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3200400" y="1261872"/>
            <a:ext cx="2651760" cy="15087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4081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85623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Payment confirmed
by cashier /
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9592" y="1947672"/>
            <a:ext cx="146304" cy="36576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gradFill>
            <a:gsLst>
              <a:gs pos="0">
                <a:srgbClr val="F5A623"/>
              </a:gs>
              <a:gs pos="100000">
                <a:srgbClr val="D4880E"/>
              </a:gs>
            </a:gsLst>
            <a:lin ang="8100000" scaled="0"/>
          </a:gradFill>
          <a:xfrm>
            <a:off x="6053328" y="1261872"/>
            <a:ext cx="2651760" cy="15087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4081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185623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Draw date passed
(within 3-day
grace period)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1947672"/>
            <a:ext cx="146304" cy="36576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8906256" y="1261872"/>
            <a:ext cx="2651760" cy="15087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14081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185623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More than 3 days
past draw date
without payment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71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971800"/>
            <a:ext cx="64008" cy="2194560"/>
          </a:xfrm>
          <a:prstGeom prst="rect">
            <a:avLst/>
          </a:prstGeom>
          <a:solidFill>
            <a:srgbClr val="4A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" y="3063240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5E78"/>
                </a:solidFill>
              </a:rPr>
              <a:t>Automatic Nightly Job (midnight EAT)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34472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pending → late: if draw date passed but within 3-day grace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37490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late → missed: if 3 or more days past draw 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40507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pending → missed: if pending and more than 3 days past draw 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43525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SMS alert sent to each newly missed member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971800"/>
            <a:ext cx="5833872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971800"/>
            <a:ext cx="64008" cy="21945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3063240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D4"/>
                </a:solidFill>
              </a:rPr>
              <a:t>Daily Reminder Job (9 PM EAT)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3447288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Checks for all unpaid members with draws within 48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749040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Sends SMS payment reminder to each member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050792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Encourages payment to maintain draw eligibility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352544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 be triggered manually: Payments → Send Reminders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21808"/>
            <a:ext cx="11548872" cy="685800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321808"/>
            <a:ext cx="6400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5413248"/>
            <a:ext cx="11347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Manual override: Any admin can change a payment status manually at any time. Go to Payments → select week → click the status badge next to the member.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B59B6"/>
                </a:solidFill>
              </a:rPr>
              <a:t>Section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Disbursements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Cheques · Guarantors · Vouchers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5.1 — Issuing a Disbursement Cheque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Disbursements page → New Disbursement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207008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" y="1335024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Verify winner is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Member must have no pending/late/
missed payments before issuing cheque.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207008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1335024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Go to 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Disbursements in sidebar.
Click New Disbursement.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1207008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1207008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38744" y="1335024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3716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1353312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Select the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1755648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Choose the draw week from the dropdown.
The gross pot amount auto-fills.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154680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632" y="3282696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Get voucher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"Get Voucher Info" to see
the full deduction breakdown
(assoc + service + voucher).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7096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7096" y="3154680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61688" y="3282696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Add 3 guarantors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9976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Select 3 different members who
guarantee the disbursement.
All 3 must be different people.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3154680"/>
            <a:ext cx="373075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4152" y="3154680"/>
            <a:ext cx="37307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38744" y="3282696"/>
            <a:ext cx="402336" cy="40233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33192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9952" y="3300984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Enter cheque details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2" y="3703320"/>
            <a:ext cx="341071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Cheque number, cheque date.
Adjust deductions if needed.
Click Save.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84648"/>
            <a:ext cx="115488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184648"/>
            <a:ext cx="64008" cy="80467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5276088"/>
            <a:ext cx="11347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3 Guarantors Required: All three must be different members. The system will reject if any two guarantors are the same person. Guarantor records are preserved permanently for audit.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5.2 — Voucher Deduction &amp; Net Pot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How the net cheque amount is calculated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11548872" cy="137160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gradFill>
            <a:gsLst>
              <a:gs pos="0">
                <a:srgbClr val="2D3A4E"/>
              </a:gs>
              <a:gs pos="100000">
                <a:srgbClr val="1A2535"/>
              </a:gs>
            </a:gsLst>
            <a:lin ang="10800000" scaled="0"/>
          </a:gradFill>
          <a:xfrm>
            <a:off x="320040" y="1207008"/>
            <a:ext cx="11548872" cy="13716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Net Pot  =  Gross Pot  −  Association Deduction  −  Service Fee  −  Voucher Deduction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24912"/>
            <a:ext cx="115488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E"/>
                </a:solidFill>
              </a:rPr>
              <a:t>Gross 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113 members × 21,000 ETB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8163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78A3C"/>
                </a:solidFill>
              </a:rPr>
              <a:t>2,373,000 ETB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0400"/>
            <a:ext cx="1154887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E"/>
                </a:solidFill>
              </a:rPr>
              <a:t>Association Deduction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91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113 members × 1,000 ETB (association rate)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291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C143C"/>
                </a:solidFill>
              </a:rPr>
              <a:t>−  113,000 ETB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75888"/>
            <a:ext cx="11548872" cy="47548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E"/>
                </a:solidFill>
              </a:rPr>
              <a:t>Service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67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 × 21,000 ETB (worker-week contribution)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7673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C143C"/>
                </a:solidFill>
              </a:rPr>
              <a:t>−   21,000 ETB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51376"/>
            <a:ext cx="1154887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428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E"/>
                </a:solidFill>
              </a:rPr>
              <a:t>Voucher Deduction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42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 winner × 80 ETB/card × 120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242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C143C"/>
                </a:solidFill>
              </a:rPr>
              <a:t>−    9,600 ETB</a:t>
            </a:r>
          </a:p>
        </p:txBody>
      </p:sp>
      <p:sp>
        <p:nvSpPr>
          <p:cNvPr id="30" name="Rectangle 29"/>
          <p:cNvSpPr/>
          <p:nvPr/>
        </p:nvSpPr>
        <p:spPr>
          <a:gradFill>
            <a:gsLst>
              <a:gs pos="0">
                <a:srgbClr val="2D3A4E"/>
              </a:gs>
              <a:gs pos="100000">
                <a:srgbClr val="1A2535"/>
              </a:gs>
            </a:gsLst>
            <a:lin ang="10800000" scaled="0"/>
          </a:gradFill>
          <a:xfrm>
            <a:off x="320040" y="4626864"/>
            <a:ext cx="11548872" cy="47548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183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 CHEQUE 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718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7183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623"/>
                </a:solidFill>
              </a:rPr>
              <a:t>2,229,400 ETB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85232"/>
            <a:ext cx="1154887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285232"/>
            <a:ext cx="64008" cy="166420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" y="5376672"/>
            <a:ext cx="11347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D4"/>
                </a:solidFill>
              </a:rPr>
              <a:t>Voucher Returns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5760720"/>
            <a:ext cx="11228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Physical vendor voucher cards are tracked per week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6062472"/>
            <a:ext cx="11228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Disbursements → Voucher Returns → Add 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6364224"/>
            <a:ext cx="11228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Enter full_count and half_count of cards returned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6665976"/>
            <a:ext cx="11228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Mark vendor_paid when the vendor has been reimbursed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6967728"/>
            <a:ext cx="11228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Voucher return records are per-week and cannot be duplicated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8D4"/>
                </a:solidFill>
              </a:rPr>
              <a:t>Section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Reports &amp;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Financial · Ledger · Export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6.1 — 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Reports page — Admin/Superadmin access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pic>
        <p:nvPicPr>
          <p:cNvPr id="11" name="Picture 10" descr="pg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74320" y="1325880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8016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Financial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0934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Tabs: Summary · Balance Sheet · Vouchers · General Ledger
Shows: total collected, assoc fund, service fee, collection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67712"/>
            <a:ext cx="5577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2404872"/>
            <a:ext cx="292608" cy="292608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915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Payment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883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Per-member: weeks paid/missed, total amounts.
Full payment history with date, method, collector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46704"/>
            <a:ext cx="5577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" y="3483864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38144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Draw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6732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All completed draws: winner, buyer (if sold),
pot amounts, draw date, pot-sale details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25696"/>
            <a:ext cx="5577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4320" y="4562856"/>
            <a:ext cx="292608" cy="292608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1713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Disbursement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All cheques: gross/net/deductions, cheque #,
guarantors, status, void reasons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04688"/>
            <a:ext cx="5577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" y="5641848"/>
            <a:ext cx="292608" cy="29260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59612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Association Fund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25312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Inflows (deductions + ማህበር profits) minus expenses.
Running balance; end-of-cycle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583680"/>
            <a:ext cx="5577840" cy="18288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715000"/>
            <a:ext cx="5577840" cy="749808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71500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5806440"/>
            <a:ext cx="5376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Export: All reports can be downloaded as CSV or formatted Excel. Click Print Report to open a print-ready summary in a new browser tab.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78A3C"/>
                </a:solidFill>
              </a:rPr>
              <a:t>Section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SMS Notifications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Templates · Auto-send · Log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7.1 — SMS Notifications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Notifications page → Settings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pic>
        <p:nvPicPr>
          <p:cNvPr id="11" name="Picture 10" descr="pg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123444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5577840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" y="1362456"/>
            <a:ext cx="402336" cy="402336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3990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3807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Open Notifications →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783080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Notifications in sidebar.
Click the Settings tab.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96312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496312"/>
            <a:ext cx="5577840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" y="2624328"/>
            <a:ext cx="402336" cy="402336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6609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6426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Enter Africa's Talking credentials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44952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API Key, Username (sandbox or live).
Sender ID (your SMS display name).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58184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58184"/>
            <a:ext cx="5577840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912" y="3886200"/>
            <a:ext cx="402336" cy="402336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2277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9044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Enable 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06824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Toggle "Enable SMS" to ON.
Leave OFF for testing (mock mode).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20056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020056"/>
            <a:ext cx="5577840" cy="54864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8912" y="5148072"/>
            <a:ext cx="402336" cy="402336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18464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66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E"/>
                </a:solidFill>
              </a:rPr>
              <a:t>Save settings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68696"/>
            <a:ext cx="5257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Click Save Settings.
Test with a sample send.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355080"/>
            <a:ext cx="5577840" cy="566928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6355080"/>
            <a:ext cx="64008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46520"/>
            <a:ext cx="5376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Mock Mode: When SMS is disabled, all notifications are logged as 'mock' — you can see exactly what would be sent without spending SMS credits.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7.2 — SMS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6 built-in templates — editable, individually toggleable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07008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8A3C"/>
                </a:solidFill>
              </a:rPr>
              <a:t>payment_confirmed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642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when cashier marks a payment as paid.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39696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{amount}, {week_number}, {draw_date}, {payment_method}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7096" y="1207008"/>
            <a:ext cx="37307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payment_reminder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16642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daily for unpaid members with draws within 48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139696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{amount}, {week_number}, {draw_date}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2" y="1207008"/>
            <a:ext cx="3730752" cy="502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</a:rPr>
              <a:t>missed_payment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664208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when a payment auto-transitions to missed.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139696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{unpaid_count}, {unpaid_amount}, {weeks_list}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80944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draw_winner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38144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to the winning member after the draw.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13632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{week_number}, {net_pot}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97096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97096" y="2980944"/>
            <a:ext cx="3730752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</a:rPr>
              <a:t>pot_on_hold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3438144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when winner is drawn but has outstanding payments.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3913632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{week_number}, {net_pot}, {unpaid_count}, {unpaid_amount}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4152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980944"/>
            <a:ext cx="3730752" cy="5029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D4"/>
                </a:solidFill>
              </a:rPr>
              <a:t>pot_sold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438144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Sent when a pot is sold instead of directly disbursed.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913632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E78"/>
                </a:solidFill>
              </a:rPr>
              <a:t>Variables: {member_name}, {week_number}, {seller_fee}, {buyer_receives}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184648"/>
            <a:ext cx="11548872" cy="80467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184648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" y="5276088"/>
            <a:ext cx="113477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Edit templates in Notifications → Templates tab. Toggle any template off to stop that type of SMS from being sent.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-2743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02848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73E8"/>
                </a:solidFill>
              </a:rPr>
              <a:t>Section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Settings &amp; Administration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457200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4CC"/>
                </a:solidFill>
              </a:rPr>
              <a:t>Roles · Permissions · Security · 2FA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8.1 — Financial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Settings page → Financial tab  (Superadmin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7572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pic>
        <p:nvPicPr>
          <p:cNvPr id="9" name="Picture 8" descr="pg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1234440"/>
            <a:ext cx="55778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07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full_spot_amount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307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21,000 ETB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307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Weekly payment for a full-share member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916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64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half_spot_amount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7647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10,500 ETB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7647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Weekly payment for a half-share member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48840"/>
            <a:ext cx="55778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21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association_deduction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21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1,000 ETB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2219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Deducted per person per week for ማህበር fund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060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79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full_spot_voucher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679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80 ETB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679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Vendor voucher reimbursement per full-spot 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63240"/>
            <a:ext cx="55778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136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half_spot_voucher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136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40 ETB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1363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Vendor voucher reimbursement per half-spot card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204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593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group_week_interval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593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593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Every Nth week is a buyer/group 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77640"/>
            <a:ext cx="55778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050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total_member_spots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0507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113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0507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Total regular member spots per 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348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507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group_name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5079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እቁብ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5079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Displayed in the app header and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92040"/>
            <a:ext cx="5577840" cy="457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965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group_tagline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965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Equb 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965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E78"/>
                </a:solidFill>
              </a:rPr>
              <a:t>Subtitle shown under the group name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394960"/>
            <a:ext cx="5577840" cy="10515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394960"/>
            <a:ext cx="64008" cy="10515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5486400"/>
            <a:ext cx="5376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Important: Changing financial settings affects NEW cycles only. Each cycle takes a snapshot of these values at creation time. Use 'Apply Settings to Cycle' to push changes into an active cycle.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8.2 — User Roles &amp; Permission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Settings page → Users tab  |  Who can do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7572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DC143C"/>
              </a:gs>
              <a:gs pos="100000">
                <a:srgbClr val="A80E2A"/>
              </a:gs>
            </a:gsLst>
            <a:lin ang="8100000" scaled="0"/>
          </a:gradFill>
          <a:xfrm>
            <a:off x="320040" y="1207008"/>
            <a:ext cx="3675887" cy="5669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73936"/>
            <a:ext cx="3675887" cy="3364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73936"/>
            <a:ext cx="64008" cy="33649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956816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Full access to every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3591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Manage all user accounts and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76148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Configure financial settings and 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16382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Reset the entire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create a second Superadmin</a:t>
            </a:r>
          </a:p>
        </p:txBody>
      </p:sp>
      <p:sp>
        <p:nvSpPr>
          <p:cNvPr id="18" name="Rectangle 17"/>
          <p:cNvSpPr/>
          <p:nvPr/>
        </p:nvSpPr>
        <p:spPr>
          <a:gradFill>
            <a:gsLst>
              <a:gs pos="0">
                <a:srgbClr val="1A73E8"/>
              </a:gs>
              <a:gs pos="100000">
                <a:srgbClr val="0F5CC0"/>
              </a:gs>
            </a:gsLst>
            <a:lin ang="8100000" scaled="0"/>
          </a:gradFill>
          <a:xfrm>
            <a:off x="4160519" y="1207008"/>
            <a:ext cx="3675887" cy="5669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19" y="1298448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19" y="1773936"/>
            <a:ext cx="3675887" cy="3364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19" y="1773936"/>
            <a:ext cx="64008" cy="3364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1" y="1956816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Manage members, draws,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1" y="23591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Issue and void 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1" y="276148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View reports and export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1" y="316382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Configure notifications / 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1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Manage Cashier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1" y="3968496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Permissions configurable by Superadmin</a:t>
            </a:r>
          </a:p>
        </p:txBody>
      </p:sp>
      <p:sp>
        <p:nvSpPr>
          <p:cNvPr id="28" name="Rectangle 27"/>
          <p:cNvSpPr/>
          <p:nvPr/>
        </p:nvSpPr>
        <p:spPr>
          <a:gradFill>
            <a:gsLst>
              <a:gs pos="0">
                <a:srgbClr val="078A3C"/>
              </a:gs>
              <a:gs pos="100000">
                <a:srgbClr val="056A2E"/>
              </a:gs>
            </a:gsLst>
            <a:lin ang="8100000" scaled="0"/>
          </a:gradFill>
          <a:xfrm>
            <a:off x="8000998" y="1207008"/>
            <a:ext cx="3675887" cy="5669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8" y="1298448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998" y="1773936"/>
            <a:ext cx="3675887" cy="3364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998" y="1773936"/>
            <a:ext cx="64008" cy="33649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0" y="1956816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Record and update 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0" y="2359152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View member list (read-only)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0" y="2761488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Record disbursements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0" y="3163824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manage members or run draws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0" y="3566160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access reports or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0" y="3968496"/>
            <a:ext cx="3419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Permissions configurable by Superadmin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21808"/>
            <a:ext cx="11548872" cy="29260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58384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Permission Matrix — configurable by Superadmin in Settings → Permissions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650992"/>
            <a:ext cx="4114800" cy="27432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5687568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Permission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5650992"/>
            <a:ext cx="2468880" cy="27432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568756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Superadmin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5650992"/>
            <a:ext cx="2468880" cy="27432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6872" y="568756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Admin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5650992"/>
            <a:ext cx="2496312" cy="27432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5752" y="5687568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Cashier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925312"/>
            <a:ext cx="411480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96188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manage_members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925312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59618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5925312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59618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5925312"/>
            <a:ext cx="2496312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4040" y="596188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181344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621792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run_draws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34840" y="6181344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62179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6181344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95160" y="62179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6181344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64040" y="621792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437376"/>
            <a:ext cx="411480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47395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disbursements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34840" y="6437376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6473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03720" y="6437376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60" y="6473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72600" y="6437376"/>
            <a:ext cx="2496312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64040" y="647395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6693408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672998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view_reports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4840" y="6693408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6280" y="672998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03720" y="6693408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95160" y="672998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72600" y="6693408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64040" y="672998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949440"/>
            <a:ext cx="411480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698601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manage_users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34840" y="6949440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26280" y="698601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03720" y="6949440"/>
            <a:ext cx="246888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95160" y="698601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72600" y="6949440"/>
            <a:ext cx="2496312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64040" y="698601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7205472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724204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E"/>
                </a:solidFill>
              </a:rPr>
              <a:t>notifications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34840" y="7205472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26280" y="724204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03720" y="7205472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95160" y="724204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72600" y="7205472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464040" y="724204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8.3 — Security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2FA · Audit Log · Sessions · Password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01168"/>
            <a:ext cx="1143000" cy="2926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65408" y="201168"/>
            <a:ext cx="1143000" cy="2926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65408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72416" y="201168"/>
            <a:ext cx="1143000" cy="29260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2416" y="237744"/>
            <a:ext cx="1143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07008"/>
            <a:ext cx="5577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207008"/>
            <a:ext cx="64008" cy="2743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1298448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Setting Up Two-Factor Authentication (2FA)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16824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Go to Settings → Your Account → Enable 2FA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8424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A QR code and secret key are displayed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2860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Scan the QR code with Google Authenticator or Authy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25877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Enter the 6-digit TOTP code to confirm and 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8895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From now on, every login requires both password +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1912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To disable: enter current TOTP code in Settings → Disable 2FA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207008"/>
            <a:ext cx="5833872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207008"/>
            <a:ext cx="64008" cy="2743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298448"/>
            <a:ext cx="5632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Audit Trail (Immutable Log)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682496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Every financial change is recorded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984248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Logged: user, timestamp, action (create/update/delete/void)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86000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Before and after values stored as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587752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Cannot be altered or deleted — permanent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889504"/>
            <a:ext cx="5513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• Covers: payments, draws, disbursements, member exits, voids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1480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14800"/>
            <a:ext cx="64008" cy="9601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20624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Rate Limiting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57200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5 failed logins → 10-minute account lockout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7096" y="411480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97096" y="4114800"/>
            <a:ext cx="64008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420624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Password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457200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Min 8 chars, no all-numbers, no common phrases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411480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2" y="4114800"/>
            <a:ext cx="64008" cy="9601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8744" y="420624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Session Timeout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457200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1-hour server-side session; re-login required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6636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64008" cy="960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25780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CSRF Protection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562356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All state-changing forms include CSRF tokens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7096" y="516636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97096" y="5166360"/>
            <a:ext cx="64008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525780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CSP Headers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562356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Content Security Policy prevents XSS attacks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5166360"/>
            <a:ext cx="37307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74152" y="5166360"/>
            <a:ext cx="64008" cy="96012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38744" y="525780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E"/>
                </a:solidFill>
              </a:rPr>
              <a:t>HTTPS Enforcement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8744" y="5623560"/>
            <a:ext cx="3502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All traffic forced to HTTPS in production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60F1E"/>
              </a:gs>
              <a:gs pos="100000">
                <a:srgbClr val="162E4E"/>
              </a:gs>
            </a:gsLst>
            <a:lin ang="10800000" scaled="0"/>
          </a:gradFill>
          <a:xfrm>
            <a:off x="0" y="0"/>
            <a:ext cx="12188952" cy="10515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Key terms used throughout this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71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Equb (እቁብ)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71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Ethiopian rotating savings &amp; credit association (ROSCA)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9344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6733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One complete round of the Equb (all spots drawn once)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75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075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 numbered entry slot (#1–113 member, #114–118 assoc.)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14016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78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Full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78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One member exclusively holds a spot; pays 21,000 ETB/week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16352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Half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Two members share one spot; each pays 10,500 ETB/week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18688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826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Gross 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282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Total weekly contributions from all members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21024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85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Net 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685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Gross − Association deduction − Service fee − Voucher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87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Association (ማህበር)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087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Community fund built from weekly deductions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25696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89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Voucher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4897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Physical vendor discount card; reimbursed by assoc. fund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207008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271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Group/Buyer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1271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Every 4th week — any member can buy the pot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609344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673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Guarantor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16733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Member who vouches for the draw winner (3 required)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011680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075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Disbursement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075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Physical cheque payment issued to the draw winner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414016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478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Collection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478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Early cycle stage when members register; no draws yet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2816352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Draw Phase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Active stage when weekly draws are held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218688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2826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Pot On Hold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282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Winner drawn but cannot receive pot due to unpaid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621024"/>
            <a:ext cx="5806440" cy="402336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685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Void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3685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Cancellation of a disbursement cheque (soft delete)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023360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087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A4E"/>
                </a:solidFill>
              </a:rPr>
              <a:t>TOTP / 2FA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87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78"/>
                </a:solidFill>
              </a:rPr>
              <a:t>Time-based one-time password for two-factor authentication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50D1A"/>
              </a:gs>
              <a:gs pos="100000">
                <a:srgbClr val="0F2845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51792" y="0"/>
            <a:ext cx="137160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51792" y="2263140"/>
            <a:ext cx="13716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51792" y="4594860"/>
            <a:ext cx="137160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097280" y="-1828800"/>
            <a:ext cx="5029200" cy="5029200"/>
          </a:xfrm>
          <a:prstGeom prst="ellipse">
            <a:avLst/>
          </a:prstGeom>
          <a:noFill/>
          <a:ln w="254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noFill/>
          <a:ln w="254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Equb Management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</a:rPr>
              <a:t>User &amp; Administrator Manual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337560"/>
            <a:ext cx="57881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520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Support: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5204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Contact your Superadmin for account issues or password resets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233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Version: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023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v3.0  |  FastAPI · PostgreSQL · Railway.app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Coverage: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5262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All roles: Superadmin · Admin · Cashier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E2442"/>
                </a:solidFill>
              </a:rPr>
              <a:t>እቁብ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