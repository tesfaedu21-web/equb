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102340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46304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46304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-1371600"/>
            <a:ext cx="5303520" cy="5303520"/>
          </a:xfrm>
          <a:prstGeom prst="ellipse">
            <a:avLst/>
          </a:prstGeom>
          <a:noFill/>
          <a:ln w="2286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389120"/>
            <a:ext cx="3200400" cy="3200400"/>
          </a:xfrm>
          <a:prstGeom prst="ellipse">
            <a:avLst/>
          </a:prstGeom>
          <a:noFill/>
          <a:ln w="2286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gradFill>
            <a:gsLst>
              <a:gs pos="0">
                <a:srgbClr val="08162A"/>
              </a:gs>
              <a:gs pos="100000">
                <a:srgbClr val="0E2540"/>
              </a:gs>
            </a:gsLst>
            <a:lin ang="10800000" scaled="0"/>
          </a:gradFill>
          <a:xfrm>
            <a:off x="7223760" y="0"/>
            <a:ext cx="496519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57200"/>
            <a:ext cx="4663440" cy="5577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gradFill>
            <a:gsLst>
              <a:gs pos="0">
                <a:srgbClr val="08162A00"/>
              </a:gs>
              <a:gs pos="100000">
                <a:srgbClr val="08162A"/>
              </a:gs>
            </a:gsLst>
            <a:lin ang="16200000" scaled="0"/>
          </a:gradFill>
          <a:xfrm>
            <a:off x="7223760" y="5029200"/>
            <a:ext cx="4965192" cy="182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685800"/>
            <a:ext cx="1234440" cy="1234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74980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B1D35"/>
                </a:solidFill>
              </a:rPr>
              <a:t>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</a:rPr>
              <a:t>እቁብ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832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A623"/>
                </a:solidFill>
              </a:rPr>
              <a:t>Equb Management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069080"/>
            <a:ext cx="43891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062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EC0"/>
                </a:solidFill>
              </a:rPr>
              <a:t>Digital infrastructure for Ethiopia's
rotating savings &amp; credit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66360"/>
            <a:ext cx="1536192" cy="132588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166360"/>
            <a:ext cx="1536192" cy="59436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951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78A3C"/>
                </a:solidFill>
              </a:rPr>
              <a:t>113+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7044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EC0"/>
                </a:solidFill>
              </a:rPr>
              <a:t>Member Spots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7128" y="5166360"/>
            <a:ext cx="1536192" cy="132588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7128" y="5166360"/>
            <a:ext cx="1536192" cy="594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7128" y="523951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7128" y="587044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EC0"/>
                </a:solidFill>
              </a:rPr>
              <a:t>SMS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31336" y="5166360"/>
            <a:ext cx="1536192" cy="132588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31336" y="5166360"/>
            <a:ext cx="1536192" cy="594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336" y="523951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73E8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587044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EC0"/>
                </a:solidFill>
              </a:rPr>
              <a:t>Access Roles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95544" y="5166360"/>
            <a:ext cx="1536192" cy="132588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95544" y="5166360"/>
            <a:ext cx="1536192" cy="5943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523951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</a:rPr>
              <a:t>v3.0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5544" y="587044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EC0"/>
                </a:solidFill>
              </a:rPr>
              <a:t>Live on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Equb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 centuries-old Ethiopian savings tradition — now digital and transparent</a:t>
            </a:r>
          </a:p>
        </p:txBody>
      </p:sp>
      <p:sp>
        <p:nvSpPr>
          <p:cNvPr id="7" name="Oval 6"/>
          <p:cNvSpPr/>
          <p:nvPr/>
        </p:nvSpPr>
        <p:spPr>
          <a:xfrm>
            <a:off x="900684" y="2144268"/>
            <a:ext cx="1325880" cy="1325880"/>
          </a:xfrm>
          <a:prstGeom prst="ellipse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836676" y="2080260"/>
            <a:ext cx="1325880" cy="132588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" y="2244852"/>
            <a:ext cx="1325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5707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A4E"/>
                </a:solidFill>
              </a:rPr>
              <a:t>Members
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24738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E78"/>
                </a:solidFill>
              </a:rPr>
              <a:t>Each member buys a
spot in the 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7420" y="2720340"/>
            <a:ext cx="228600" cy="45720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2409444" y="2633472"/>
            <a:ext cx="201168" cy="219456"/>
          </a:xfrm>
          <a:prstGeom prst="can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63924" y="2144268"/>
            <a:ext cx="1325880" cy="1325880"/>
          </a:xfrm>
          <a:prstGeom prst="ellipse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3899916" y="2080260"/>
            <a:ext cx="1325880" cy="132588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9916" y="2244852"/>
            <a:ext cx="1325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35707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A4E"/>
                </a:solidFill>
              </a:rPr>
              <a:t>Weekly
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424738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E78"/>
                </a:solidFill>
              </a:rPr>
              <a:t>Every member pays
their weekly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0660" y="2720340"/>
            <a:ext cx="228600" cy="45720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>
            <a:off x="5472684" y="2633472"/>
            <a:ext cx="201168" cy="219456"/>
          </a:xfrm>
          <a:prstGeom prst="can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27164" y="2144268"/>
            <a:ext cx="1325880" cy="1325880"/>
          </a:xfrm>
          <a:prstGeom prst="ellipse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6963156" y="2080260"/>
            <a:ext cx="1325880" cy="132588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3156" y="2244852"/>
            <a:ext cx="1325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5707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A4E"/>
                </a:solidFill>
              </a:rPr>
              <a:t>Draw
Held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738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E78"/>
                </a:solidFill>
              </a:rPr>
              <a:t>A winner is drawn
from open spots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3900" y="2720340"/>
            <a:ext cx="228600" cy="45720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n 26"/>
          <p:cNvSpPr/>
          <p:nvPr/>
        </p:nvSpPr>
        <p:spPr>
          <a:xfrm>
            <a:off x="8535924" y="2633472"/>
            <a:ext cx="201168" cy="219456"/>
          </a:xfrm>
          <a:prstGeom prst="can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90404" y="2144268"/>
            <a:ext cx="1325880" cy="1325880"/>
          </a:xfrm>
          <a:prstGeom prst="ellipse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10026396" y="2080260"/>
            <a:ext cx="1325880" cy="132588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6396" y="2244852"/>
            <a:ext cx="1325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5707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A4E"/>
                </a:solidFill>
              </a:rPr>
              <a:t>Winner
Paid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424738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E78"/>
                </a:solidFill>
              </a:rPr>
              <a:t>Full pot disbursed
by cheque</a:t>
            </a:r>
          </a:p>
        </p:txBody>
      </p:sp>
      <p:sp>
        <p:nvSpPr>
          <p:cNvPr id="33" name="Rectangle 32"/>
          <p:cNvSpPr/>
          <p:nvPr/>
        </p:nvSpPr>
        <p:spPr>
          <a:gradFill>
            <a:gsLst>
              <a:gs pos="0">
                <a:srgbClr val="0B1D35"/>
              </a:gs>
              <a:gs pos="100000">
                <a:srgbClr val="162E4E"/>
              </a:gs>
            </a:gsLst>
            <a:lin ang="10800000" scaled="0"/>
          </a:gradFill>
          <a:xfrm>
            <a:off x="0" y="580644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07608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Every member wins exactly once per cycle — guaranteed, transparent, and recorded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The scale of the Equb platform at a glance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347472" y="1234440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3712463" cy="59436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25880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78A3C"/>
                </a:solidFill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258568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Member Spots
per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971800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+5 Association spots</a:t>
            </a:r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4206239" y="1234440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39" y="1234440"/>
            <a:ext cx="3712463" cy="594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9" y="1325880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5A623"/>
                </a:solidFill>
              </a:rPr>
              <a:t>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258568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 Spots
(incl. Association)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2971800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Full + half-share splits</a:t>
            </a:r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8065006" y="1234440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6" y="1234440"/>
            <a:ext cx="3712463" cy="594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6" y="1325880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A73E8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6" y="2258568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SMS Templates
for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6" y="2971800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Powered by Africa's Talking</a:t>
            </a:r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347472" y="3575304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3575304"/>
            <a:ext cx="3712463" cy="5943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666744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DC143C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59943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 Roles
(Superadmin/Admin/Cashier)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5312664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Granular permission matrix</a:t>
            </a:r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4206239" y="3575304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39" y="3575304"/>
            <a:ext cx="3712463" cy="5943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39" y="3666744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9B59B6"/>
                </a:solidFill>
              </a:rPr>
              <a:t>48h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459943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Before Draw
Reminder 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5312664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Auto-scheduled by APScheduler</a:t>
            </a:r>
          </a:p>
        </p:txBody>
      </p:sp>
      <p:sp>
        <p:nvSpPr>
          <p:cNvPr id="31" name="Rectangle 30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8700000" scaled="0"/>
          </a:gradFill>
          <a:xfrm>
            <a:off x="8065006" y="3575304"/>
            <a:ext cx="3712463" cy="21762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6" y="3575304"/>
            <a:ext cx="3712463" cy="59436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6" y="3666744"/>
            <a:ext cx="37124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0B8D4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6" y="459943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Failed Logins
before Lockout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5312664"/>
            <a:ext cx="37124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8AB0"/>
                </a:solidFill>
              </a:rPr>
              <a:t>5-minute rate-limit ban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Platform —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Role-based interface for Superadmin, Admin, and Cashier</a:t>
            </a:r>
          </a:p>
        </p:txBody>
      </p:sp>
      <p:pic>
        <p:nvPicPr>
          <p:cNvPr id="7" name="Picture 6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0432"/>
            <a:ext cx="7086600" cy="54406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4320" y="1271016"/>
            <a:ext cx="292608" cy="292608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216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Sidebar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Dashboard · Members · Draws
Payments · Reports · Notifications · Settings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434340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2368296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514600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13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Ethiopian Flag 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97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Green / Gold / Red stripe always visible
in the app header for every 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434340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" y="3465576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611880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10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Active Cycle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Switch cycles from any page
without losing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34840"/>
            <a:ext cx="434340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20" y="4562856"/>
            <a:ext cx="292608" cy="292608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709160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07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User Role Badge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Current role shown in sidebar footer
Admin / Cashier / Superadmin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32120"/>
            <a:ext cx="434340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Everything a growing Equb association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207008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207008"/>
            <a:ext cx="3767328" cy="59436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594360" y="1408176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499616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31136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04288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Track 113+ spots with full/half-share splitting, status flags, and member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07008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07008"/>
            <a:ext cx="3767328" cy="594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4507992" y="1408176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499616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499616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Payments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2231136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304288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Weekly payment entry with automatic late/missed transitions after 3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1207008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1207008"/>
            <a:ext cx="3767328" cy="594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8421624" y="1408176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499616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499616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Draws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1624" y="2231136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2304288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Scheduled weekly draws — hold logic, winner selection, spot-sale override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3566160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" y="3566160"/>
            <a:ext cx="3767328" cy="5943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594360" y="3767328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858768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456" y="385876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Disbursements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590288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663440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Cheque payouts with 3 required guarantors, voucher deductions, net calc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566160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3566160"/>
            <a:ext cx="3767328" cy="5943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gradFill>
            <a:gsLst>
              <a:gs pos="0">
                <a:srgbClr val="9B59B6"/>
              </a:gs>
              <a:gs pos="100000">
                <a:srgbClr val="7D3F9A"/>
              </a:gs>
            </a:gsLst>
            <a:lin ang="8100000" scaled="0"/>
          </a:gradFill>
          <a:xfrm>
            <a:off x="4507992" y="3767328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3858768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385876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4590288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4663440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Financial summary, balance sheet, vouchers, general ledger, print-to-PDF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3566160"/>
            <a:ext cx="3767328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3566160"/>
            <a:ext cx="3767328" cy="59436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gradFill>
            <a:gsLst>
              <a:gs pos="0">
                <a:srgbClr val="00B8D4"/>
              </a:gs>
              <a:gs pos="100000">
                <a:srgbClr val="008FA3"/>
              </a:gs>
            </a:gsLst>
            <a:lin ang="8100000" scaled="0"/>
          </a:gradFill>
          <a:xfrm>
            <a:off x="8421624" y="3767328"/>
            <a:ext cx="658368" cy="6583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3858768"/>
            <a:ext cx="658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858768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E"/>
                </a:solidFill>
              </a:rPr>
              <a:t>SMS Alerts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1624" y="4590288"/>
            <a:ext cx="3255264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1624" y="4663440"/>
            <a:ext cx="32552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6 templates via Africa's Talking: reminders, winner, missed, pot sold…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Real-time financial visibility with print-to-PDF export</a:t>
            </a:r>
          </a:p>
        </p:txBody>
      </p:sp>
      <p:pic>
        <p:nvPicPr>
          <p:cNvPr id="7" name="Picture 6" descr="pg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6629400" cy="54406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178040" y="1417320"/>
            <a:ext cx="301752" cy="30175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362456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Financial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1737360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Total collected · Association fund
Service fee · Collection rate · Voucher pool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377440"/>
            <a:ext cx="470916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78040" y="2587752"/>
            <a:ext cx="301752" cy="301752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2532888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Balance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907792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Full accounting view of all ETB
movements across the 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547872"/>
            <a:ext cx="470916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3758184"/>
            <a:ext cx="301752" cy="30175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8" y="3703320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General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078224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Itemised week-by-week transaction
breakdown for audits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4718304"/>
            <a:ext cx="470916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4928616"/>
            <a:ext cx="301752" cy="301752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4873752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Disbursement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5248656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Winner, date, gross, deductions,
net cheque, guarantor names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5888736"/>
            <a:ext cx="470916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gradFill>
            <a:gsLst>
              <a:gs pos="0">
                <a:srgbClr val="E8F0FE"/>
              </a:gs>
              <a:gs pos="100000">
                <a:srgbClr val="D2E3FC"/>
              </a:gs>
            </a:gsLst>
            <a:lin ang="10800000" scaled="0"/>
          </a:gradFill>
          <a:xfrm>
            <a:off x="7178040" y="5897880"/>
            <a:ext cx="4709160" cy="6217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59618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E8"/>
                </a:solidFill>
              </a:rPr>
              <a:t>Print Report → exports formatted financial PDF directly from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SMS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Automated member communication via Africa's Talking API</a:t>
            </a:r>
          </a:p>
        </p:txBody>
      </p:sp>
      <p:pic>
        <p:nvPicPr>
          <p:cNvPr id="7" name="Picture 6" descr="pg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70432"/>
            <a:ext cx="5943600" cy="5440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1234440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64008" cy="68580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07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Payment Reminder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276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Auto-sent 48 hours before every weekly draw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93392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93392"/>
            <a:ext cx="64008" cy="6858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665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Missed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3865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All members with missed payments notified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752344"/>
            <a:ext cx="6400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254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Draw Winner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1455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Winner receives personal confirmation SMS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11296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11296"/>
            <a:ext cx="6400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Payment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9044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Receipt sent after cashier records payment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70248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70248"/>
            <a:ext cx="64008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Pot On 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663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Draw postponed — all members informed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29200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64008" cy="6858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102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Pot Sold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4223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Spot sale completed — buyer/seller notified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Production-grade Python stack, deployed on Railway.app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338328" y="1234440"/>
            <a:ext cx="2761488" cy="6217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353312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10800000" scaled="0"/>
          </a:gradFill>
          <a:xfrm>
            <a:off x="338328" y="1856232"/>
            <a:ext cx="2761488" cy="459028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075688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2075688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Jinja2 HTML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3145536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" y="3145536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4215384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" y="4215384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799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Chart.js 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5285232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" y="5285232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498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Vanilla JavaScript</a:t>
            </a:r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3255264" y="1234440"/>
            <a:ext cx="2761488" cy="6217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1353312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10800000" scaled="0"/>
          </a:gradFill>
          <a:xfrm>
            <a:off x="3255264" y="1856232"/>
            <a:ext cx="2761488" cy="459028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38144" y="2075688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38144" y="2075688"/>
            <a:ext cx="54864" cy="7772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 ·  Uvicorn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8144" y="3145536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38144" y="3145536"/>
            <a:ext cx="54864" cy="7772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APScheduler (cron jobs)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38144" y="4215384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38144" y="4215384"/>
            <a:ext cx="54864" cy="7772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2736" y="43799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SQLAlchemy 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38144" y="5285232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8144" y="5285232"/>
            <a:ext cx="54864" cy="7772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54498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Africa's Talking SMS</a:t>
            </a:r>
          </a:p>
        </p:txBody>
      </p:sp>
      <p:sp>
        <p:nvSpPr>
          <p:cNvPr id="36" name="Rectangle 35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6172200" y="1234440"/>
            <a:ext cx="2761488" cy="6217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353312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8" name="Rectangle 37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10800000" scaled="0"/>
          </a:gradFill>
          <a:xfrm>
            <a:off x="6172200" y="1856232"/>
            <a:ext cx="2761488" cy="459028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2075688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075688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PostgreSQL (production)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145536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145536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SQLite (local dev)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215384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4215384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43799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Railway managed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285232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5285232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9672" y="54498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Alembic migrations</a:t>
            </a:r>
          </a:p>
        </p:txBody>
      </p:sp>
      <p:sp>
        <p:nvSpPr>
          <p:cNvPr id="51" name="Rectangle 50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9089136" y="1234440"/>
            <a:ext cx="2761488" cy="6217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9136" y="1353312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53" name="Rectangle 52"/>
          <p:cNvSpPr/>
          <p:nvPr/>
        </p:nvSpPr>
        <p:spPr>
          <a:gradFill>
            <a:gsLst>
              <a:gs pos="0">
                <a:srgbClr val="0D213C"/>
              </a:gs>
              <a:gs pos="100000">
                <a:srgbClr val="172E4E"/>
              </a:gs>
            </a:gsLst>
            <a:lin ang="10800000" scaled="0"/>
          </a:gradFill>
          <a:xfrm>
            <a:off x="9089136" y="1856232"/>
            <a:ext cx="2761488" cy="459028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72016" y="2075688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72016" y="2075688"/>
            <a:ext cx="54864" cy="7772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36608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PBKDF2 password hashing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2016" y="3145536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72016" y="3145536"/>
            <a:ext cx="54864" cy="7772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36608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CSRF protection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72016" y="4215384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72016" y="4215384"/>
            <a:ext cx="54864" cy="7772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36608" y="43799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CSP + HTTPS headers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72016" y="5285232"/>
            <a:ext cx="2395728" cy="77724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72016" y="5285232"/>
            <a:ext cx="54864" cy="7772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36608" y="54498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Rate-limiting &amp; sessions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0" y="6336792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Deployed on Railway.app  |  Auto-deploy from Git  |  Managed PostgreSQL add-on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102340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46304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46304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2648" y="0"/>
            <a:ext cx="146304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42648" y="2263140"/>
            <a:ext cx="146304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42648" y="4594860"/>
            <a:ext cx="146304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371600" y="-1645920"/>
            <a:ext cx="5486400" cy="5486400"/>
          </a:xfrm>
          <a:prstGeom prst="ellipse">
            <a:avLst/>
          </a:prstGeom>
          <a:noFill/>
          <a:ln w="254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4389120"/>
            <a:ext cx="3474720" cy="3474720"/>
          </a:xfrm>
          <a:prstGeom prst="ellipse">
            <a:avLst/>
          </a:prstGeom>
          <a:noFill/>
          <a:ln w="254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182880"/>
            <a:ext cx="1828800" cy="1828800"/>
          </a:xfrm>
          <a:prstGeom prst="ellipse">
            <a:avLst/>
          </a:prstGeom>
          <a:noFill/>
          <a:ln w="254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7A9EC0"/>
                </a:solidFill>
              </a:rPr>
              <a:t>Built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A623"/>
                </a:solidFill>
              </a:rPr>
              <a:t>Ethiopia's Financial Communities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A4CC"/>
                </a:solidFill>
              </a:rPr>
              <a:t>Transparent  ·  Automated  ·  Scalable  ·  Secure</a:t>
            </a:r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726948" y="3749039"/>
            <a:ext cx="2560320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" y="387705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Transparent</a:t>
            </a:r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3451860" y="3749039"/>
            <a:ext cx="2560320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1860" y="387705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Automated</a:t>
            </a:r>
          </a:p>
        </p:txBody>
      </p:sp>
      <p:sp>
        <p:nvSpPr>
          <p:cNvPr id="20" name="Rectangle 19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6176772" y="3749039"/>
            <a:ext cx="2560320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6772" y="387705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8901684" y="3749039"/>
            <a:ext cx="2560320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1684" y="387705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Secure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890"/>
                </a:solidFill>
              </a:rPr>
              <a:t>Equb Management Platform  ·  v3.0  ·  FastAPI + PostgreSQL +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