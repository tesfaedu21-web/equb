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28016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28016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06640" y="0"/>
            <a:ext cx="4782312" cy="6858000"/>
          </a:xfrm>
          <a:prstGeom prst="rect">
            <a:avLst/>
          </a:prstGeom>
          <a:solidFill>
            <a:srgbClr val="09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16368" y="384048"/>
            <a:ext cx="4535424" cy="540410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super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411480"/>
            <a:ext cx="4480560" cy="53492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02920" y="594360"/>
            <a:ext cx="1097280" cy="10972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0080"/>
            <a:ext cx="1097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F243E"/>
                </a:solidFill>
              </a:rPr>
              <a:t>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FFFFFF"/>
                </a:solidFill>
              </a:rPr>
              <a:t>እቁብ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9718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A623"/>
                </a:solidFill>
              </a:rPr>
              <a:t>Equb Management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3611880"/>
            <a:ext cx="4114800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749039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User &amp; Administrator Manual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27939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4CC"/>
                </a:solidFill>
              </a:rPr>
              <a:t>Covers all roles: Superadmin  ·  Admin  ·  Cashier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166360"/>
            <a:ext cx="1371600" cy="1143000"/>
          </a:xfrm>
          <a:prstGeom prst="rect">
            <a:avLst/>
          </a:prstGeom>
          <a:solidFill>
            <a:srgbClr val="0C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" y="5166360"/>
            <a:ext cx="1371600" cy="54864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28523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8A3C"/>
                </a:solidFill>
              </a:rPr>
              <a:t>v3.0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5166360"/>
            <a:ext cx="1920240" cy="1143000"/>
          </a:xfrm>
          <a:prstGeom prst="rect">
            <a:avLst/>
          </a:prstGeom>
          <a:solidFill>
            <a:srgbClr val="0C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0" y="5166360"/>
            <a:ext cx="192024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528523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3E8"/>
                </a:solidFill>
              </a:rPr>
              <a:t>FastAPI + PostgreSQL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41648" y="5166360"/>
            <a:ext cx="1920240" cy="1143000"/>
          </a:xfrm>
          <a:prstGeom prst="rect">
            <a:avLst/>
          </a:prstGeom>
          <a:solidFill>
            <a:srgbClr val="0C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41648" y="5166360"/>
            <a:ext cx="192024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528523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143C"/>
                </a:solidFill>
              </a:rPr>
              <a:t>Railway.app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71616" y="5166360"/>
            <a:ext cx="1920240" cy="1143000"/>
          </a:xfrm>
          <a:prstGeom prst="rect">
            <a:avLst/>
          </a:prstGeom>
          <a:solidFill>
            <a:srgbClr val="0C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71616" y="5166360"/>
            <a:ext cx="19202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71616" y="528523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30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This manual covers all 8 functional areas of the Equb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216152"/>
            <a:ext cx="281635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216152"/>
            <a:ext cx="64008" cy="210312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1208" y="1399032"/>
            <a:ext cx="475488" cy="475488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435608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426464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Getting Started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" y="1965960"/>
            <a:ext cx="2450592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075688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Login · Dashboard · Navigation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0984" y="1216152"/>
            <a:ext cx="281635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0984" y="1216152"/>
            <a:ext cx="64008" cy="21031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83864" y="1399032"/>
            <a:ext cx="475488" cy="47548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83864" y="1435608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5656" y="1426464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Managing Members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3864" y="1965960"/>
            <a:ext cx="2450592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3864" y="2075688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Add · Edit · Spots · Lifecycle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216152"/>
            <a:ext cx="281635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216152"/>
            <a:ext cx="64008" cy="2103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139903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435608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1426464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Cycles &amp; Draws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1965960"/>
            <a:ext cx="2450592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075688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Create cycle · Run draws · Sell pot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26296" y="1216152"/>
            <a:ext cx="281635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26296" y="1216152"/>
            <a:ext cx="64008" cy="21031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09176" y="1399032"/>
            <a:ext cx="475488" cy="475488"/>
          </a:xfrm>
          <a:prstGeom prst="ellipse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9176" y="1435608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968" y="1426464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Payments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09176" y="1965960"/>
            <a:ext cx="2450592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9176" y="2075688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Record · Batch · Auto-status rules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" y="3483864"/>
            <a:ext cx="281635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8328" y="3483864"/>
            <a:ext cx="64008" cy="21031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1208" y="3666744"/>
            <a:ext cx="475488" cy="475488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" y="370332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3694176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Disbursements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8" y="4233672"/>
            <a:ext cx="2450592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" y="4343400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Cheques · Guarantors · Vouchers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00984" y="3483864"/>
            <a:ext cx="281635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00984" y="3483864"/>
            <a:ext cx="64008" cy="21031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83864" y="3666744"/>
            <a:ext cx="475488" cy="475488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83864" y="370332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05656" y="3694176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Reports &amp; Analytics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83864" y="4233672"/>
            <a:ext cx="2450592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83864" y="4343400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Financial · Ledger · Export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483864"/>
            <a:ext cx="281635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3483864"/>
            <a:ext cx="64008" cy="210312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46520" y="3666744"/>
            <a:ext cx="475488" cy="475488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370332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8312" y="3694176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SMS Notifications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46520" y="4233672"/>
            <a:ext cx="2450592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4343400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Templates · Auto-send · Log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26296" y="3483864"/>
            <a:ext cx="281635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26296" y="3483864"/>
            <a:ext cx="64008" cy="21031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409176" y="3666744"/>
            <a:ext cx="475488" cy="47548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09176" y="370332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30968" y="3694176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Settings &amp; Admin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09176" y="4233672"/>
            <a:ext cx="2450592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09176" y="4343400"/>
            <a:ext cx="2450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Roles · Permissions · Security · 2FA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28016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28016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-731520"/>
            <a:ext cx="6858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62A44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73152" cy="228600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745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78A3C"/>
                </a:solidFill>
              </a:rPr>
              <a:t>Section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611880"/>
            <a:ext cx="4572000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749039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4CC"/>
                </a:solidFill>
              </a:rPr>
              <a:t>Login · Dashboard · Navigation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1.1  Logging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Authentication · Rate Limiting · Two-Factor Authentication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Cashier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188720"/>
            <a:ext cx="2779776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188720"/>
            <a:ext cx="2779776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632" y="1335024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1371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362456"/>
            <a:ext cx="1911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Open the app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1856232"/>
            <a:ext cx="25054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Navigate to the Equb platform link.
Default local: http://localhost:8000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188720"/>
            <a:ext cx="2779776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46120" y="1188720"/>
            <a:ext cx="2779776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0712" y="1335024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1371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40" y="1362456"/>
            <a:ext cx="1911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Enter your username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1856232"/>
            <a:ext cx="25054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Case-sensitive. Set by the Superadmin
when your account was created.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188720"/>
            <a:ext cx="2779776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188720"/>
            <a:ext cx="2779776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36792" y="1335024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1371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1362456"/>
            <a:ext cx="1911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Enter your password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1856232"/>
            <a:ext cx="25054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Min 8 characters. Cannot be all
numbers or a common phrase.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1188720"/>
            <a:ext cx="2779776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1188720"/>
            <a:ext cx="2779776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62872" y="1335024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2872" y="1371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1362456"/>
            <a:ext cx="1911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Click Sign 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1856232"/>
            <a:ext cx="25054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Redirected to Dashboard.
If 2FA is enabled, a 6-digit code
screen appears next.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200400"/>
            <a:ext cx="5303520" cy="8686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200400"/>
            <a:ext cx="64008" cy="8686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" y="3291840"/>
            <a:ext cx="50657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Rate Limit: After 5 failed login attempts in 5 minutes, the account is locked for 10 minutes. Contact Superadmin if you are stuck.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187952"/>
            <a:ext cx="5303520" cy="868680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187952"/>
            <a:ext cx="64008" cy="868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" y="4279392"/>
            <a:ext cx="50657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2FA (Optional): If enabled, after password verification you will be prompted for a 6-digit TOTP code from your authenticator app (Google Authenticator, Authy, etc.).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200400"/>
            <a:ext cx="592531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0" y="3200400"/>
            <a:ext cx="64008" cy="96012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08192" y="3319272"/>
            <a:ext cx="5696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Password Rules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3712464"/>
            <a:ext cx="5687568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44768" y="3794760"/>
            <a:ext cx="5632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Minimum 8 characters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44768" y="4105656"/>
            <a:ext cx="5632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Not all numbers (e.g. "12345678")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4416552"/>
            <a:ext cx="5632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Not common phrases ("password", "equb1234")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4279392"/>
            <a:ext cx="5925312" cy="777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0" y="4279392"/>
            <a:ext cx="64008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08192" y="4370832"/>
            <a:ext cx="56875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Forgot your password? Ask your Superadmin — they can reset any user password from Settings → Users.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212080"/>
            <a:ext cx="11548872" cy="804672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5212080"/>
            <a:ext cx="64008" cy="80467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4632" y="5303520"/>
            <a:ext cx="113111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First login: Your Superadmin will give you a username and temporary password. Change your password immediately via Settings → Change Password.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1.2  Dashboard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Real-time snapshot of the active cycle — visible to all roles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Cashier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4608" y="1143000"/>
            <a:ext cx="7050024" cy="54955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_super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70432"/>
            <a:ext cx="6995160" cy="544068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92608" y="1344168"/>
            <a:ext cx="320040" cy="320040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" y="1499616"/>
            <a:ext cx="347472" cy="27432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13075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Sidebar Navigation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1691640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Links: Dashboard · Members
Draws · Payments · Reports
Notifications · Settings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" y="2423160"/>
            <a:ext cx="4434840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608" y="2487168"/>
            <a:ext cx="320040" cy="3200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" y="2642616"/>
            <a:ext cx="347472" cy="27432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24505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Active Cycle 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2834640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Shows which cycle is selected
and the current draw phase
(Collection or Active)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" y="3566160"/>
            <a:ext cx="4434840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608" y="3630168"/>
            <a:ext cx="320040" cy="32004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" y="3785616"/>
            <a:ext cx="347472" cy="27432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35935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Next Draw Card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977640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Week number, scheduled
draw date, and net pot
amount for that week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4709160"/>
            <a:ext cx="4434840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608" y="4773168"/>
            <a:ext cx="320040" cy="320040"/>
          </a:xfrm>
          <a:prstGeom prst="ellipse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" y="4928616"/>
            <a:ext cx="347472" cy="27432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47365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Association Fund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5120640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Running ማህበር fund balance
built from weekly member
deductions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" y="5852160"/>
            <a:ext cx="4434840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28016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28016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-731520"/>
            <a:ext cx="6858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62A44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73152" cy="2286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745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73E8"/>
                </a:solidFill>
              </a:rPr>
              <a:t>Section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Managing Members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611880"/>
            <a:ext cx="4572000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749039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4CC"/>
                </a:solidFill>
              </a:rPr>
              <a:t>Add · Edit · Spots · Lifecycle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2.1  Member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Spots · Full Share vs Half Share · Weekly 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18872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188720"/>
            <a:ext cx="64008" cy="182880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30759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78A3C"/>
                </a:solidFill>
              </a:rPr>
              <a:t>What is a Spot?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1700784"/>
            <a:ext cx="5248656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178308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Each spot is a numbered slot in the Equb (e.g. #1 to #113)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209397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One spot = one draw entry per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240487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Member spots: #1–113  |  Association (ማህበር) spots: #114–118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71576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Association spots generate profit for the group fund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02666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A member can hold more than one spot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200400"/>
            <a:ext cx="274320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200400"/>
            <a:ext cx="64008" cy="2395728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331927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8A3C"/>
                </a:solidFill>
              </a:rPr>
              <a:t>Full Share  —  21,000 ETB / week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" y="3730752"/>
            <a:ext cx="2450592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3822191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One member occupies the spot exclusively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4151375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Receives the full pot when drawn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4480559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Cannot be split with another member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9544" y="3200400"/>
            <a:ext cx="274320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9544" y="3200400"/>
            <a:ext cx="64008" cy="2395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74136" y="331927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Half Share  —  10,500 ETB / week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74136" y="3730752"/>
            <a:ext cx="2450592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0712" y="3822191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Two members share ONE spot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0712" y="4151375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Each pays 10,500 ETB per week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0712" y="4480559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When drawn, pot is split between both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0712" y="4809743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Maximum 2 members per half-share spot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188720"/>
            <a:ext cx="5833872" cy="36576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12618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Default Financial Settings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1554480"/>
            <a:ext cx="5833872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162763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full_spot_amount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1627632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21,000 ETB / week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1938528"/>
            <a:ext cx="58338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201168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half_spot_amount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2011680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10,500 ETB / week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322576"/>
            <a:ext cx="5833872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239572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association_deduction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2395728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1,000 ETB / person / week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2706624"/>
            <a:ext cx="58338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277977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full_spot_voucher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779776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80 ETB / card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090672"/>
            <a:ext cx="5833872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316382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half_spot_voucher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3163824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40 ETB / card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3474720"/>
            <a:ext cx="58338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354787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group_week_interval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3547872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Every 4th week is a buyer week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3858768"/>
            <a:ext cx="5833872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39319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total_member_spots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0" y="3931920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113 regular member spots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4242816"/>
            <a:ext cx="58338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72200" y="431596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total_assoc_spots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4315968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5 association spots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4800600"/>
            <a:ext cx="5833872" cy="749808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35040" y="4800600"/>
            <a:ext cx="64008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9632" y="4892040"/>
            <a:ext cx="5596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Each cycle takes a snapshot of these values at creation. Settings changes only affect NEW cycles unless you use 'Apply Settings to Cycle'.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2.2  Adding &amp; Editing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Members page → + Add Member button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188720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188720"/>
            <a:ext cx="3730752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" y="1335024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1371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362456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Go to Members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1856232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Click Members in the sidebar.
Click the + Add Member button
at the top right.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7096" y="1188720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7096" y="1188720"/>
            <a:ext cx="3730752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61688" y="1335024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1371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616" y="1362456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Enter member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1856232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Name (required)
Phone number (optional, for SMS)
Notes (optional)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1188720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1188720"/>
            <a:ext cx="3730752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38744" y="1335024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4" y="1371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5672" y="1362456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Assign a spot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1856232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Select spot number from the
available list.
Choose share type: Full or Half.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099816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099816"/>
            <a:ext cx="3730752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4632" y="3246120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328269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3273552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Save the member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3767328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Click Save Member.
Member appears in the list
immediately.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97096" y="3099816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97096" y="3099816"/>
            <a:ext cx="3730752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61688" y="3246120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1688" y="328269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28616" y="3273552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Add more spots (optional)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61688" y="3767328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Open the member record.
Click Add Spot to assign
an additional spot.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74152" y="3099816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74152" y="3099816"/>
            <a:ext cx="3730752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38744" y="3246120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8744" y="328269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05672" y="3273552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Bulk import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8744" y="3767328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Click Import to upload a CSV
or Excel file.
Columns: Name, Phone, Spot, Share, Notes.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166360"/>
            <a:ext cx="11548872" cy="8046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166360"/>
            <a:ext cx="64008" cy="80467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" y="5257800"/>
            <a:ext cx="113111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Important: Spot assignments cannot be added or edited once the cycle moves to the Draw phase. Complete all member registrations during the Collection phase.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2.3  Member Lifecycle &amp;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Active → Received → Left  |  Mid-cycle exit  |  Spot transfer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3200400" cy="14630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47088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Member is currently
participating and
paying weekly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5616" y="1883664"/>
            <a:ext cx="274320" cy="36576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n 14"/>
          <p:cNvSpPr/>
          <p:nvPr/>
        </p:nvSpPr>
        <p:spPr>
          <a:xfrm>
            <a:off x="4059936" y="1810512"/>
            <a:ext cx="146304" cy="182880"/>
          </a:xfrm>
          <a:prstGeom prst="can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7952" y="1188720"/>
            <a:ext cx="3200400" cy="1463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137160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RECEIVED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1847088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Member has won the
pot and collected
the cheque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16368" y="1883664"/>
            <a:ext cx="274320" cy="36576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 19"/>
          <p:cNvSpPr/>
          <p:nvPr/>
        </p:nvSpPr>
        <p:spPr>
          <a:xfrm>
            <a:off x="7790688" y="1810512"/>
            <a:ext cx="146304" cy="182880"/>
          </a:xfrm>
          <a:prstGeom prst="can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18704" y="1188720"/>
            <a:ext cx="3200400" cy="14630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137160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LEFT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8704" y="1847088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Member has departed
or stopped paying
during the cycle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92608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926080"/>
            <a:ext cx="64008" cy="21945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304495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143C"/>
                </a:solidFill>
              </a:rPr>
              <a:t>Mid-Cycle Exit (Member Leaves)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" y="3438144"/>
            <a:ext cx="5340096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3520440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Go to Members → open member → click Exit Member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" y="3831336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Enter the exit week number and reason (left / stopped paying)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" y="4142232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All pending/late payments AFTER exit week → auto-marked missed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" y="4453128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A financial summary is shown: paid, owed, whether they won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" y="4764024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Soft delete — all records preserved for audit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2926080"/>
            <a:ext cx="5833872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2926080"/>
            <a:ext cx="64008" cy="2194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3044952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Spot Transfer (Mid-Cycle)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3438144"/>
            <a:ext cx="5596128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6208" y="3520440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Go to Members → click Spot Transfer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3831336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Select spot, current member (outgoing), new member (incoming)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4142232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Specify effective week (first week new member pays)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4453128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Past payments stay with original member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4764024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Future pending payments reassigned to new member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285232"/>
            <a:ext cx="11548872" cy="713232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5285232"/>
            <a:ext cx="64008" cy="7132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" y="5376672"/>
            <a:ext cx="11311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Members marked Left are never permanently deleted. All payment, draw, and guarantor records are preserved for audit trail.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28016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28016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-731520"/>
            <a:ext cx="6858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62A44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73152" cy="228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745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Section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Cycles &amp; Draws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611880"/>
            <a:ext cx="4572000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749039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4CC"/>
                </a:solidFill>
              </a:rPr>
              <a:t>Create cycle · Run draws · Sell pot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3.1  Creating &amp; Managing a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Draws page → Cycles tab → + New 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188720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188720"/>
            <a:ext cx="3730752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" y="1335024"/>
            <a:ext cx="420624" cy="420624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1371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362456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Go to Draws → Cycles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1856232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Click Draws in sidebar.
Select the Cycles tab.
Click "+ New Cycle".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7096" y="1188720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7096" y="1188720"/>
            <a:ext cx="3730752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61688" y="1335024"/>
            <a:ext cx="420624" cy="420624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1371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616" y="1362456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Fill cycle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1856232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Name (e.g. Equb 2025)
Start date
Notes (optional)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1188720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1188720"/>
            <a:ext cx="3730752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38744" y="1335024"/>
            <a:ext cx="420624" cy="420624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4" y="1371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5672" y="1362456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Override settings (optional)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1856232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Per-cycle override of: spot amounts,
assoc. deduction, voucher rates,
total member spots.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099816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099816"/>
            <a:ext cx="3730752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4632" y="3246120"/>
            <a:ext cx="420624" cy="420624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328269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3273552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Create the cycle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3767328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Click Create. All weeks are
generated automatically.
Status: Collection phase.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97096" y="3099816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97096" y="3099816"/>
            <a:ext cx="3730752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61688" y="3246120"/>
            <a:ext cx="420624" cy="420624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1688" y="328269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28616" y="3273552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Register all members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61688" y="3767328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Add members &amp; assign spots
during Collection phase.
No draws happen yet.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74152" y="3099816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74152" y="3099816"/>
            <a:ext cx="3730752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38744" y="3246120"/>
            <a:ext cx="420624" cy="420624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8744" y="328269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05672" y="3273552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Start Draws phase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8744" y="3767328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Click "Start Draws".
Specify first week number and
total association spots.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166360"/>
            <a:ext cx="11548872" cy="804672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166360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" y="5257800"/>
            <a:ext cx="113111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Only one cycle can be active at a time. Creating a new cycle automatically closes the previous active cycle. Completed cycles are locked and preserved for audit.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3.2  Running Weekly Draws &amp; Selling the 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Draws page → Weeks tab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188720"/>
            <a:ext cx="5303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188720"/>
            <a:ext cx="5303520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" y="1335024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1371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362456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Go to Draws →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18562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Find the current week row
in the weeks list.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87168"/>
            <a:ext cx="5303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487168"/>
            <a:ext cx="5303520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632" y="2633472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67004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660904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Click Draw Winner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154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Click the "Draw" button.
Select or confirm the winning spot.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85616"/>
            <a:ext cx="5303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85616"/>
            <a:ext cx="5303520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4632" y="3931920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396849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959352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Eligibility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4531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Winner must have no pending,
late, or missed payments.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084064"/>
            <a:ext cx="5303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084064"/>
            <a:ext cx="5303520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4632" y="5230368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5266944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25780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Draw confirmed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57515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Spot → Received. Week → Drawn.
SMS confirmation sent to winner.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1188720"/>
            <a:ext cx="5879592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1188720"/>
            <a:ext cx="64008" cy="2560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53912" y="130759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</a:rPr>
              <a:t>Pot On Hold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3912" y="1700784"/>
            <a:ext cx="5577840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53912" y="18105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Winner has unpaid weeks → pot placed ON HOLD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3912" y="21762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SMS sent: 'Pay outstanding weeks to receive pot'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3912" y="25420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Member clears all outstanding payments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3912" y="29077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Admin releases the pot manually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53912" y="32735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Cheque issued the following week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3931920"/>
            <a:ext cx="5879592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89320" y="3931920"/>
            <a:ext cx="64008" cy="1691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53912" y="4050792"/>
            <a:ext cx="5650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Pot Sales — 3 Options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53912" y="4443984"/>
            <a:ext cx="5641848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0488" y="4526280"/>
            <a:ext cx="5586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Group Week (every 4th week): any member can buy the pot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0488" y="4837176"/>
            <a:ext cx="5586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Member Sale: winning member sells their pot to another member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0488" y="5148072"/>
            <a:ext cx="5586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Association Spot Sale: ማህበር spot sold; profit → assoc fund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0488" y="5458968"/>
            <a:ext cx="5586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Go to Draws → select week → Sell Pot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6291072"/>
            <a:ext cx="5303520" cy="62179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" y="6291072"/>
            <a:ext cx="64008" cy="6217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" y="6382512"/>
            <a:ext cx="5065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Batch Draw: Draw multiple weeks at once from Draws → Batch Draw. Each week is validated independently.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28016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28016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-731520"/>
            <a:ext cx="6858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62A44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73152" cy="22860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745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C143C"/>
                </a:solidFill>
              </a:rPr>
              <a:t>Section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611880"/>
            <a:ext cx="4572000" cy="5029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749039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4CC"/>
                </a:solidFill>
              </a:rPr>
              <a:t>Record · Batch · Auto-status rules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4.1  Recording Payments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Payments page → Select week → Record payment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Cashier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188720"/>
            <a:ext cx="539496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188720"/>
            <a:ext cx="64008" cy="2834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130759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Record a Single Payment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1700784"/>
            <a:ext cx="5157216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1783080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Go to Payments → select the week from dropdown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093976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Find the member in the payment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240487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Click Record Payment next to their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2715768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Fill in: Status, Date, Method, Reference,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302666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Click Save — SMS confirmation sent automatically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88720"/>
            <a:ext cx="5833872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1188720"/>
            <a:ext cx="64008" cy="28346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1307592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78A3C"/>
                </a:solidFill>
              </a:rPr>
              <a:t>Record a Batch Payment (Multiple Weeks)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700784"/>
            <a:ext cx="5596128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1783080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Go to Payments → Batch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2093976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Select the member from the dropdown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2404872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Tick the week checkboxes you are recording for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2715768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Enter payment date, method, and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3026664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Click Save — all selected weeks are marked paid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337560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One SMS sent summarising all weeks covered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160520"/>
            <a:ext cx="11548872" cy="347472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06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Payment Fields 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507992"/>
            <a:ext cx="11548872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5811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4581144"/>
            <a:ext cx="8439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pending  ·  paid  ·  late  ·  missed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92040"/>
            <a:ext cx="115488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96519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Payment 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4965192"/>
            <a:ext cx="8439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Date cash / cheque was physically received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276088"/>
            <a:ext cx="11548872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34924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Payment method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349240"/>
            <a:ext cx="8439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cash  ·  bank_transfer  ·  cheque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60136"/>
            <a:ext cx="115488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73328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Reference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5733288"/>
            <a:ext cx="8439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Cheque number or bank transaction reference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6044184"/>
            <a:ext cx="11548872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11733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Penalty amount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6117336"/>
            <a:ext cx="8439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ETB surcharge for late payment (optional)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6428232"/>
            <a:ext cx="115488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50138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Notes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7560" y="6501384"/>
            <a:ext cx="8439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Any additional remarks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4.2  Payment Status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Automatic transitions · Scheduled jobs · Manual override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Cashier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188720"/>
            <a:ext cx="2651760" cy="15087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35331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1792224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Payment created
but not yet
recorded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35808" y="1901952"/>
            <a:ext cx="128016" cy="36576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88720"/>
            <a:ext cx="2651760" cy="150876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135331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792224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Payment confirmed
by cashier or
admin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8736" y="1901952"/>
            <a:ext cx="128016" cy="36576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53328" y="1188720"/>
            <a:ext cx="2651760" cy="1508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135331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1792224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Draw date passed
(within 3-day
grace period)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41664" y="1901952"/>
            <a:ext cx="128016" cy="36576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6256" y="1188720"/>
            <a:ext cx="2651760" cy="15087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06256" y="135331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MISSED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6256" y="1792224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3+ days past draw
date without
payment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907792"/>
            <a:ext cx="55778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2907792"/>
            <a:ext cx="64008" cy="214884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302666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Nightly Automated Job (midnight EAT)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" y="3419856"/>
            <a:ext cx="5340096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" y="3502152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pending → late: draw date passed, within 3-day grace period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" y="3813048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late → missed: 3 or more days past draw 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" y="4123944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pending → missed: pending and more than 3 days past draw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" y="4434840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SMS alert sent to each newly missed member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907792"/>
            <a:ext cx="5833872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907792"/>
            <a:ext cx="64008" cy="214884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2" y="3026664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7A7"/>
                </a:solidFill>
              </a:rPr>
              <a:t>Daily Reminder Job (9 PM EAT)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9632" y="3419856"/>
            <a:ext cx="5596128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502152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Checks all unpaid members with draws within 48 hours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3813048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Sends payment_reminder SMS to each member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4123944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Encourages payment to maintain draw eligibility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434840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Can also be triggered manually from Payments page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193792"/>
            <a:ext cx="11548872" cy="713232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193792"/>
            <a:ext cx="64008" cy="7132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" y="5285232"/>
            <a:ext cx="11311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Manual override: Any admin or cashier can change a payment status manually at any time. Go to Payments → select the week → click the status badge.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28016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28016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-731520"/>
            <a:ext cx="6858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62A44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73152" cy="2286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745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B2FBE"/>
                </a:solidFill>
              </a:rPr>
              <a:t>Section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Disbursements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611880"/>
            <a:ext cx="4572000" cy="5029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749039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4CC"/>
                </a:solidFill>
              </a:rPr>
              <a:t>Cheques · Guarantors · Vouchers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5.1  Issuing a Disbursement Cheque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Disbursements page → New Disbursement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Cashier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188720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188720"/>
            <a:ext cx="3730752" cy="5029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632" y="1335024"/>
            <a:ext cx="420624" cy="420624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1371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362456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Verify winner is paid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1856232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Member must have no pending,
late, or missed payments before
issuing the cheque.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97096" y="1188720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7096" y="1188720"/>
            <a:ext cx="3730752" cy="5029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61688" y="1335024"/>
            <a:ext cx="420624" cy="420624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1371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8616" y="1362456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Go to Disbursements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1856232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Click Disbursements in sidebar.
Click New Disbursement.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4152" y="1188720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4152" y="1188720"/>
            <a:ext cx="3730752" cy="5029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38744" y="1335024"/>
            <a:ext cx="420624" cy="420624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13716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5672" y="1362456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Select the week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8744" y="1856232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Choose the draw week.
The gross pot amount
auto-fills.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099816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099816"/>
            <a:ext cx="3730752" cy="5029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4632" y="3246120"/>
            <a:ext cx="420624" cy="420624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" y="328269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3273552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Get voucher info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3767328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Click "Get Voucher Info" to see
the full deduction breakdown:
assoc + service + voucher.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97096" y="3099816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7096" y="3099816"/>
            <a:ext cx="3730752" cy="5029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361688" y="3246120"/>
            <a:ext cx="420624" cy="420624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1688" y="328269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28616" y="3273552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Add 3 guarantors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1688" y="3767328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Select 3 different members.
All 3 must be different
people (system validates).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74152" y="3099816"/>
            <a:ext cx="3730752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74152" y="3099816"/>
            <a:ext cx="3730752" cy="5029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38744" y="3246120"/>
            <a:ext cx="420624" cy="420624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38744" y="328269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05672" y="3273552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Enter cheque details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38744" y="3767328"/>
            <a:ext cx="3456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Cheque number and date.
Adjust deductions if needed.
Click Save.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166360"/>
            <a:ext cx="11548872" cy="8046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5166360"/>
            <a:ext cx="64008" cy="80467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632" y="5257800"/>
            <a:ext cx="113111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3 Guarantors Required — all three must be different members. The system rejects if any two guarantors are the same person. Guarantor records are preserved permanently in the audit trail.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5.2  Net Pot Calculation &amp; Voucher Deductions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How the winner's cheque amount is calculated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188720"/>
            <a:ext cx="11548872" cy="59436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25880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Net Pot  =  Gross Pot  −  Association Deduction  −  Service Fee  −  Voucher Deduction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74519"/>
            <a:ext cx="11548872" cy="347472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202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Worked Example — Full-spot winner, 113 members, 120-week cycle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21992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04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Gross Pot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304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113 members × 21,000 ETB/week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3042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C143C"/>
                </a:solidFill>
              </a:rPr>
              <a:t>2,373,000 ETB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60904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− Association Deduction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113 members × 1,000 ETB (assoc. rate)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C143C"/>
                </a:solidFill>
              </a:rPr>
              <a:t>  − 113,000 ETB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99816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182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− Service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1821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1 worker-week × 21,000 ETB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1821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C143C"/>
                </a:solidFill>
              </a:rPr>
              <a:t>   − 21,000 ETB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38728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6210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− Voucher Deduction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6210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1 winner × 80 ETB/card × 120 weeks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6210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C143C"/>
                </a:solidFill>
              </a:rPr>
              <a:t>    − 9,600 ETB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977640"/>
            <a:ext cx="11548872" cy="47548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069080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NET CHEQUE AMOUNT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406908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A623"/>
                </a:solidFill>
              </a:rPr>
              <a:t>2,229,400 ETB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480560"/>
            <a:ext cx="557784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4480560"/>
            <a:ext cx="64008" cy="1664208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45994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7A7"/>
                </a:solidFill>
              </a:rPr>
              <a:t>Voucher Returns (Physical Cards)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" y="4992624"/>
            <a:ext cx="5340096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" y="5074920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Go to Disbursements → Voucher Returns → Add Return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" y="5385816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Enter full_count and half_count of cards returned by vendor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" y="5696712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Mark vendor_paid when vendor is reimbursed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" y="6007608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One record per week — cannot be duplicated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480560"/>
            <a:ext cx="5833872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35040" y="4480560"/>
            <a:ext cx="64008" cy="16642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599432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143C"/>
                </a:solidFill>
              </a:rPr>
              <a:t>Void a Disbursement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9632" y="4992624"/>
            <a:ext cx="5596128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5074920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Open the disbursement record → click Void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5385816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Enter a reason (minimum 5 characters)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5696712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Status changes to Voided — soft delete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6007608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All original data preserved for audit trail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6318504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Records who voided it and when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28016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28016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-731520"/>
            <a:ext cx="6858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62A44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73152" cy="2286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745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7A7"/>
                </a:solidFill>
              </a:rPr>
              <a:t>Section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Reports &amp; 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611880"/>
            <a:ext cx="4572000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749039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4CC"/>
                </a:solidFill>
              </a:rPr>
              <a:t>Financial · Ledger · Export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6.1  Reports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Reports page — Admin / Superadmin access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8" y="1143000"/>
            <a:ext cx="5907024" cy="54955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g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70432"/>
            <a:ext cx="5852160" cy="544068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292608" y="1298448"/>
            <a:ext cx="310896" cy="310896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26187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Financial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6002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Tabs: Summary · Balance Sheet · Vouchers · General Ledger. Total collected, assoc fund, service fee, collection rate.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2249424"/>
            <a:ext cx="5577840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2608" y="2340863"/>
            <a:ext cx="310896" cy="310896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304287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Payment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642615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Per-member: weeks paid/missed, total amounts. Full payment history with date, method, and collector name.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" y="3291839"/>
            <a:ext cx="5577840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608" y="3383278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4670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Draw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8503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All completed draws — winner, buyer (if sold), pot amounts, draw date, and pot-sale details.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" y="4334254"/>
            <a:ext cx="5577840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608" y="4425693"/>
            <a:ext cx="310896" cy="310896"/>
          </a:xfrm>
          <a:prstGeom prst="ellipse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389117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Disbursement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27445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All cheques: gross/net/deductions, cheque #, guarantors, status (issued/collected/voided), void reasons.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5376669"/>
            <a:ext cx="5577840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608" y="5468108"/>
            <a:ext cx="310896" cy="310896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3153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Association Fund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698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Inflows (deductions + ማህበር profits) minus expenses. Running balance and end-of-cycle distribution.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" y="6419084"/>
            <a:ext cx="5577840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2608" y="5779008"/>
            <a:ext cx="5577840" cy="658368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8" y="5779008"/>
            <a:ext cx="64008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870448"/>
            <a:ext cx="53400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Export: All reports download as CSV or formatted Excel. Click Print Report to open a print-ready PDF summary.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28016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28016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-731520"/>
            <a:ext cx="6858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62A44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73152" cy="228600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745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78A3C"/>
                </a:solidFill>
              </a:rPr>
              <a:t>Section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SMS Notifications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611880"/>
            <a:ext cx="4572000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749039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4CC"/>
                </a:solidFill>
              </a:rPr>
              <a:t>Templates · Auto-send · Log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7.1  SMS Notifications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Notifications page → Settings tab  |  Africa's Talking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8" y="1143000"/>
            <a:ext cx="5907024" cy="54955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g_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70432"/>
            <a:ext cx="5852160" cy="54406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92608" y="1207008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1207008"/>
            <a:ext cx="5577840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1353312"/>
            <a:ext cx="420624" cy="420624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38988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1380744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Open Notifications →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874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Click Notifications in sidebar.
Click the Settings tab.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" y="2505456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2608" y="2505456"/>
            <a:ext cx="5577840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2651760"/>
            <a:ext cx="420624" cy="420624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68833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2679192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Enter Africa's Talking credentials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1729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API Key, Username (sandbox or live).
Sender ID (your SMS display name).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" y="3803904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8" y="3803904"/>
            <a:ext cx="5577840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" y="3950208"/>
            <a:ext cx="420624" cy="420624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986784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977640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Enable SMS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47141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Toggle "Enable SMS" to ON.
Leave OFF for testing (mock mode
— logs without sending).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" y="5102352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608" y="5102352"/>
            <a:ext cx="5577840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" y="5248656"/>
            <a:ext cx="420624" cy="420624"/>
          </a:xfrm>
          <a:prstGeom prst="ellipse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285232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5276088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43E"/>
                </a:solidFill>
              </a:rPr>
              <a:t>Save &amp; 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698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Click Save Settings.
Use the test send button to
verify delivery.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" y="6400800"/>
            <a:ext cx="5577840" cy="530352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2608" y="6400800"/>
            <a:ext cx="64008" cy="5303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Mock Mode: SMS disabled → notifications logged as 'mock'. See exactly what would be sent without using credits.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7.2  SMS 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6 built-in templates — editable, individually toggleable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07008"/>
            <a:ext cx="3730752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07008"/>
            <a:ext cx="64008" cy="162763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298448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8A3C"/>
                </a:solidFill>
              </a:rPr>
              <a:t>payment_confirmed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1664208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43E"/>
                </a:solidFill>
              </a:rPr>
              <a:t>Sent when cashier marks a payment paid.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2103120"/>
            <a:ext cx="3493008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176272"/>
            <a:ext cx="3502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A4A5C"/>
                </a:solidFill>
              </a:rPr>
              <a:t>Variables:  {member_name}  {amount}  {week_number}  {draw_date}  {payment_method}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7096" y="1207008"/>
            <a:ext cx="3730752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7096" y="1207008"/>
            <a:ext cx="64008" cy="16276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1298448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payment_reminder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1664208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43E"/>
                </a:solidFill>
              </a:rPr>
              <a:t>Daily reminder — unpaid members with draw within 48 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1688" y="2103120"/>
            <a:ext cx="3493008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2176272"/>
            <a:ext cx="3502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A4A5C"/>
                </a:solidFill>
              </a:rPr>
              <a:t>Variables:  {member_name}  {amount}  {week_number}  {draw_date}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1207008"/>
            <a:ext cx="3730752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1207008"/>
            <a:ext cx="64008" cy="162763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4" y="1298448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143C"/>
                </a:solidFill>
              </a:rPr>
              <a:t>missed_payment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1664208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43E"/>
                </a:solidFill>
              </a:rPr>
              <a:t>Sent when payment auto-transitions to missed.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38744" y="2103120"/>
            <a:ext cx="3493008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2176272"/>
            <a:ext cx="3502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A4A5C"/>
                </a:solidFill>
              </a:rPr>
              <a:t>Variables:  {member_name}  {unpaid_count}  {unpaid_amount}  {weeks_list}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980944"/>
            <a:ext cx="3730752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2980944"/>
            <a:ext cx="64008" cy="16276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" y="3072384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draw_winner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3438144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43E"/>
                </a:solidFill>
              </a:rPr>
              <a:t>Congratulations SMS to the draw winner.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" y="3877056"/>
            <a:ext cx="3493008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" y="3950208"/>
            <a:ext cx="3502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A4A5C"/>
                </a:solidFill>
              </a:rPr>
              <a:t>Variables:  {member_name}  {week_number}  {net_pot}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97096" y="2980944"/>
            <a:ext cx="3730752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97096" y="2980944"/>
            <a:ext cx="64008" cy="162763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61688" y="3072384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</a:rPr>
              <a:t>pot_on_hold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1688" y="3438144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43E"/>
                </a:solidFill>
              </a:rPr>
              <a:t>Winner drawn but has outstanding unpaid weeks.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61688" y="3877056"/>
            <a:ext cx="3493008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1688" y="3950208"/>
            <a:ext cx="3502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A4A5C"/>
                </a:solidFill>
              </a:rPr>
              <a:t>Variables:  {member_name}  {week_number}  {net_pot}  {unpaid_count}  {unpaid_amount}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74152" y="2980944"/>
            <a:ext cx="3730752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74152" y="2980944"/>
            <a:ext cx="64008" cy="162763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38744" y="3072384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7A7"/>
                </a:solidFill>
              </a:rPr>
              <a:t>pot_sold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8744" y="3438144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43E"/>
                </a:solidFill>
              </a:rPr>
              <a:t>Sent when a pot is sold instead of directly disbursed.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38744" y="3877056"/>
            <a:ext cx="3493008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38744" y="3950208"/>
            <a:ext cx="3502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A4A5C"/>
                </a:solidFill>
              </a:rPr>
              <a:t>Variables:  {member_name}  {week_number}  {seller_fee}  {buyer_receives}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184648"/>
            <a:ext cx="11548872" cy="804672"/>
          </a:xfrm>
          <a:prstGeom prst="rect">
            <a:avLst/>
          </a:prstGeom>
          <a:solidFill>
            <a:srgbClr val="FE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184648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" y="5276088"/>
            <a:ext cx="113111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Edit any template in Notifications → Templates tab. Toggle a template off to stop that specific SMS type from being sent.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28016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28016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-731520"/>
            <a:ext cx="6858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62A44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73152" cy="2286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745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73E8"/>
                </a:solidFill>
              </a:rPr>
              <a:t>Section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Settings &amp; 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611880"/>
            <a:ext cx="4572000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749039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4CC"/>
                </a:solidFill>
              </a:rPr>
              <a:t>Roles · Permissions · Security · 2FA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8.1  Financial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Settings page → Financial tab  (Superadmin only)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7608" y="1143000"/>
            <a:ext cx="5907024" cy="54955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g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70432"/>
            <a:ext cx="5852160" cy="5440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1188720"/>
            <a:ext cx="5577840" cy="347472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344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Configurable Fields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36192"/>
            <a:ext cx="557784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09344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full_spot_amount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609344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21,000 ETB — full-share weekly payment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920240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99339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half_spot_amount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199339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10,500 ETB — half-share weekly payment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04288"/>
            <a:ext cx="557784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association_deduction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377440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1,000 ETB — per person per week → ማህበር fund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88336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61488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full_spot_voucher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761488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80 ETB — vendor voucher per full-spot card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072384"/>
            <a:ext cx="557784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145536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half_spot_voucher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145536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40 ETB — vendor voucher per half-spot card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456432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529584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group_week_interval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3529584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4 — every 4th week is a buyer/group week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40480"/>
            <a:ext cx="557784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91363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total_member_spots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91363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113 — regular member spots per cycle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224528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297680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group_name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297680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Displayed in app header and all reports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608576"/>
            <a:ext cx="557784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681728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group_tagline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4681728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Subtitle shown under the group name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992624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065776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logo_url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5065776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HTTPS URL for the group logo image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559552"/>
            <a:ext cx="5577840" cy="89611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5559552"/>
            <a:ext cx="64008" cy="89611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" y="5650992"/>
            <a:ext cx="53400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E"/>
                </a:solidFill>
              </a:rPr>
              <a:t>Changes affect NEW cycles only. Each cycle takes a snapshot at creation. To push changes into an active cycle, use Members → Apply Settings to Cycle.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8.2  User Roles &amp; Permission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Settings page → Users tab  |  Who can do what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3675887" cy="53035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80160"/>
            <a:ext cx="3675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19072"/>
            <a:ext cx="3675887" cy="2715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719072"/>
            <a:ext cx="64008" cy="271576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01952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Full access to every 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86000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Manage all user accounts and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70048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Configure financial settings &amp; branding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54096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Reset the entire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38144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Cannot create a second Superadmin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19" y="1188720"/>
            <a:ext cx="3675887" cy="5303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19" y="1280160"/>
            <a:ext cx="3675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19" y="1719072"/>
            <a:ext cx="3675887" cy="2715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19" y="1719072"/>
            <a:ext cx="64008" cy="27157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399" y="1901952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Manage members, draws, 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2286000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Issue and void disbursements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2670048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View reports and export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3054096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Configure SMS 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399" y="3438144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Manage Cashier accounts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399" y="3822192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Permissions customisable by Superadmin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0998" y="1188720"/>
            <a:ext cx="3675887" cy="53035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0998" y="1280160"/>
            <a:ext cx="3675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Cashier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998" y="1719072"/>
            <a:ext cx="3675887" cy="2715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998" y="1719072"/>
            <a:ext cx="64008" cy="2715768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8" y="1901952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Record and update payments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8" y="2286000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Record disbursements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8" y="2670048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View member list (read-only)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8" y="3054096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Cannot manage members or run draws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8" y="3438144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Cannot access reports or settings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8" y="3822192"/>
            <a:ext cx="34015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Permissions customisable by Superadmin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572000"/>
            <a:ext cx="11548872" cy="310896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617720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Permission Matrix  —  configurable by Superadmin in Settings → Permissions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882896"/>
            <a:ext cx="11548872" cy="274320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4919472"/>
            <a:ext cx="4005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Permission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7992" y="4919472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Superadmin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872" y="4919472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Admin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5752" y="4919472"/>
            <a:ext cx="2386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Cashier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157216"/>
            <a:ext cx="411480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5193792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43E"/>
                </a:solidFill>
              </a:rPr>
              <a:t>manage_members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40" y="5157216"/>
            <a:ext cx="246888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519379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03720" y="5157216"/>
            <a:ext cx="246888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95160" y="519379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72600" y="5157216"/>
            <a:ext cx="2496312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5193792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143C"/>
                </a:solidFill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413248"/>
            <a:ext cx="4114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449824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43E"/>
                </a:solidFill>
              </a:rPr>
              <a:t>run_draws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34840" y="5413248"/>
            <a:ext cx="24688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26280" y="544982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03720" y="5413248"/>
            <a:ext cx="24688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5160" y="544982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72600" y="5413248"/>
            <a:ext cx="24963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64040" y="5449824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143C"/>
                </a:solidFill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669280"/>
            <a:ext cx="411480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5705856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43E"/>
                </a:solidFill>
              </a:rPr>
              <a:t>disbursements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434840" y="5669280"/>
            <a:ext cx="246888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26280" y="570585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03720" y="5669280"/>
            <a:ext cx="246888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95160" y="570585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72600" y="5669280"/>
            <a:ext cx="2496312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64040" y="5705856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5925312"/>
            <a:ext cx="4114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5961888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43E"/>
                </a:solidFill>
              </a:rPr>
              <a:t>view_reports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4840" y="5925312"/>
            <a:ext cx="24688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26280" y="596188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03720" y="5925312"/>
            <a:ext cx="24688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95160" y="596188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72600" y="5925312"/>
            <a:ext cx="24963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64040" y="5961888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143C"/>
                </a:solidFill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6181344"/>
            <a:ext cx="411480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6217920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43E"/>
                </a:solidFill>
              </a:rPr>
              <a:t>manage_users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34840" y="6181344"/>
            <a:ext cx="246888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26280" y="621792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03720" y="6181344"/>
            <a:ext cx="246888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995160" y="621792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372600" y="6181344"/>
            <a:ext cx="2496312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64040" y="6217920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143C"/>
                </a:solidFill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6437376"/>
            <a:ext cx="4114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" y="6473952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243E"/>
                </a:solidFill>
              </a:rPr>
              <a:t>notifications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434840" y="6437376"/>
            <a:ext cx="24688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26280" y="647395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03720" y="6437376"/>
            <a:ext cx="24688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95160" y="647395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8A3C"/>
                </a:solidFill>
              </a:rP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372600" y="6437376"/>
            <a:ext cx="24963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464040" y="6473952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143C"/>
                </a:solidFill>
              </a:rPr>
              <a:t>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8.3  Security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2FA · Audit Log · Sessions · Password 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228600"/>
            <a:ext cx="1261872" cy="2743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9244584" y="228600"/>
            <a:ext cx="1261872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44584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79608" y="228600"/>
            <a:ext cx="1261872" cy="27432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79608" y="26517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Cashier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188720"/>
            <a:ext cx="55778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188720"/>
            <a:ext cx="64008" cy="26517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130759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Two-Factor Authentication (2FA) Setup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1700784"/>
            <a:ext cx="5340096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1783080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Go to Settings → Your Account → Enable 2FA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093976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A QR code and secret key are displayed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2404872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Scan the QR code with Google Authenticator or Authy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2715768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Enter the 6-digit TOTP code to confirm and activate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3026664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Every future login requires password + TOTP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3337560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To disable: enter current TOTP code in Settings → Disable 2FA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188720"/>
            <a:ext cx="5833872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1188720"/>
            <a:ext cx="64008" cy="265176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1307592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</a:rPr>
              <a:t>Audit Trail (Immutable Log)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1700784"/>
            <a:ext cx="5596128" cy="1828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1783080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Every financial change is recorded automatically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2093976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Logged: user, timestamp, action (create / update / delete / void)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2404872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Before and after values stored as JSON snapshots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2715768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Cannot be altered or deleted — permanent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026664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Covers: payments, draws, disbursements, member exits, voids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3337560"/>
            <a:ext cx="5541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Viewable by Superadmin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005072"/>
            <a:ext cx="373075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005072"/>
            <a:ext cx="64008" cy="89611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" y="4096512"/>
            <a:ext cx="3502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143C"/>
                </a:solidFill>
              </a:rPr>
              <a:t>Rate Limiting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4462272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5 failed logins → 10-minute account lockout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97096" y="4005072"/>
            <a:ext cx="373075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7096" y="4005072"/>
            <a:ext cx="64008" cy="8961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61688" y="4096512"/>
            <a:ext cx="3502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Password Policy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61688" y="4462272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Min 8 chars · no all-numbers · no common phrases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74152" y="4005072"/>
            <a:ext cx="373075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74152" y="4005072"/>
            <a:ext cx="64008" cy="89611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38744" y="4096512"/>
            <a:ext cx="3502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8A3C"/>
                </a:solidFill>
              </a:rPr>
              <a:t>Session Timeout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8744" y="4462272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1-hour server-side session; re-login required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010912"/>
            <a:ext cx="373075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010912"/>
            <a:ext cx="64008" cy="89611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" y="5102352"/>
            <a:ext cx="3502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CSRF Protection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" y="5468112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All forms include CSRF tokens against forgery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97096" y="5010912"/>
            <a:ext cx="373075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97096" y="5010912"/>
            <a:ext cx="64008" cy="89611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61688" y="5102352"/>
            <a:ext cx="3502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</a:rPr>
              <a:t>CSP Headers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61688" y="5468112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Content Security Policy blocks XSS attacks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74152" y="5010912"/>
            <a:ext cx="373075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74152" y="5010912"/>
            <a:ext cx="64008" cy="8961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38744" y="5102352"/>
            <a:ext cx="3502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7A7"/>
                </a:solidFill>
              </a:rPr>
              <a:t>HTTPS Enforced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38744" y="5468112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All traffic forced to HTTPS in production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4CC"/>
                </a:solidFill>
              </a:rPr>
              <a:t>Key terms used throughout this manual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806440" cy="39319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52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Equb (እቁብ)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2527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Ethiopian rotating savings &amp; credit association (ROSCA)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81912"/>
            <a:ext cx="5806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6459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One complete round of the Equb — all spots drawn once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75104"/>
            <a:ext cx="5806440" cy="39319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391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Spot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0391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A numbered entry slot (#1–113 member, #114–118 assoc.)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68296"/>
            <a:ext cx="5806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323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Full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3230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One member holds a spot exclusively; pays 21,000 ETB/week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61488"/>
            <a:ext cx="5806440" cy="39319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2549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Half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282549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Two members share one spot; each pays 10,500 ETB/week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154680"/>
            <a:ext cx="5806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186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Gross Pot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2186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Total weekly contributions from all members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47872"/>
            <a:ext cx="5806440" cy="39319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118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Net Pot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36118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Gross − Association deduction − Service fee − Voucher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41064"/>
            <a:ext cx="5806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050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Association (ማህበር)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0050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Community fund from weekly deductions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334256"/>
            <a:ext cx="5806440" cy="39319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982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Voucher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43982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Physical vendor discount card; reimbursed by assoc. fund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1188720"/>
            <a:ext cx="5806440" cy="39319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252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Group/Buyer Week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12527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Every 4th week — any member can buy the pot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1581912"/>
            <a:ext cx="5806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6459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Guarantor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16459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Member vouching for the draw winner (3 required)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1975104"/>
            <a:ext cx="5806440" cy="39319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20391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Disbursement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20391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Physical cheque payment issued to the draw winner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368296"/>
            <a:ext cx="5806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24323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Collection Phase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243230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Early cycle stage — members register, no draws yet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2761488"/>
            <a:ext cx="5806440" cy="39319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282549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Draw Phase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282549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Active stage — weekly draws are held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154680"/>
            <a:ext cx="5806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32186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Pot On Hold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32186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Winner drawn but cannot receive pot due to unpaid weeks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3547872"/>
            <a:ext cx="5806440" cy="39319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6118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Void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36118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Cancellation of a disbursement cheque (soft delete)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3941064"/>
            <a:ext cx="5806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40050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43E"/>
                </a:solidFill>
              </a:rPr>
              <a:t>TOTP / 2FA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40050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Time-based one-time password for two-factor authentication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63140"/>
            <a:ext cx="128016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4860"/>
            <a:ext cx="128016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60936" y="0"/>
            <a:ext cx="128016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60936" y="2263140"/>
            <a:ext cx="128016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060936" y="4594860"/>
            <a:ext cx="128016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74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Equb Management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5A623"/>
                </a:solidFill>
              </a:rPr>
              <a:t>User &amp; Administrator Manual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291840"/>
            <a:ext cx="57881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34747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Version: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47472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4CC"/>
                </a:solidFill>
              </a:rPr>
              <a:t>v3.0  |  FastAPI · PostgreSQL · Railway.app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9319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Coverage: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93192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4CC"/>
                </a:solidFill>
              </a:rPr>
              <a:t>All roles: Superadmin · Admin · Cashier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3891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Support: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38912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4CC"/>
                </a:solidFill>
              </a:rPr>
              <a:t>Contact your Superadmin for account or access issues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1" i="0">
                <a:solidFill>
                  <a:srgbClr val="0E2442"/>
                </a:solidFill>
              </a:rPr>
              <a:t>እቁብ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